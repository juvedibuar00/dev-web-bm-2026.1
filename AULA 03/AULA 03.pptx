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1" r:id="rId2"/>
    <p:sldId id="444" r:id="rId3"/>
    <p:sldId id="475" r:id="rId4"/>
    <p:sldId id="476" r:id="rId5"/>
    <p:sldId id="276" r:id="rId6"/>
    <p:sldId id="277" r:id="rId7"/>
    <p:sldId id="424" r:id="rId8"/>
    <p:sldId id="425" r:id="rId9"/>
    <p:sldId id="426" r:id="rId10"/>
    <p:sldId id="427" r:id="rId11"/>
    <p:sldId id="428" r:id="rId12"/>
    <p:sldId id="452" r:id="rId13"/>
    <p:sldId id="429" r:id="rId14"/>
    <p:sldId id="430" r:id="rId15"/>
    <p:sldId id="431" r:id="rId16"/>
    <p:sldId id="453" r:id="rId17"/>
    <p:sldId id="454" r:id="rId18"/>
    <p:sldId id="455" r:id="rId19"/>
    <p:sldId id="456" r:id="rId20"/>
    <p:sldId id="457" r:id="rId21"/>
    <p:sldId id="433" r:id="rId22"/>
    <p:sldId id="434" r:id="rId23"/>
    <p:sldId id="279" r:id="rId24"/>
    <p:sldId id="448" r:id="rId25"/>
    <p:sldId id="450" r:id="rId26"/>
    <p:sldId id="458" r:id="rId27"/>
    <p:sldId id="281" r:id="rId28"/>
    <p:sldId id="459" r:id="rId29"/>
    <p:sldId id="461" r:id="rId30"/>
    <p:sldId id="462" r:id="rId31"/>
    <p:sldId id="451" r:id="rId32"/>
    <p:sldId id="463" r:id="rId33"/>
    <p:sldId id="464" r:id="rId34"/>
    <p:sldId id="470" r:id="rId35"/>
    <p:sldId id="471" r:id="rId36"/>
    <p:sldId id="472" r:id="rId37"/>
    <p:sldId id="473" r:id="rId38"/>
    <p:sldId id="465" r:id="rId39"/>
    <p:sldId id="466" r:id="rId40"/>
    <p:sldId id="474" r:id="rId41"/>
    <p:sldId id="468" r:id="rId42"/>
    <p:sldId id="270" r:id="rId4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74B059-3B68-4C5B-A8CF-8E69A0DBA270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F8EDA5A3-9A04-40D8-AC52-16B48DD5403C}">
      <dgm:prSet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sz="1800" dirty="0">
              <a:latin typeface="Arial" panose="020B0604020202020204" pitchFamily="34" charset="0"/>
              <a:cs typeface="Arial" panose="020B0604020202020204" pitchFamily="34" charset="0"/>
            </a:rPr>
            <a:t>TÓPICOS:</a:t>
          </a:r>
        </a:p>
      </dgm:t>
    </dgm:pt>
    <dgm:pt modelId="{4C6F25C0-BD50-4224-849C-02339B23AA27}" type="parTrans" cxnId="{D77852D5-C6B0-4A8C-809A-3E22DFC9705A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AD4AA55-0262-4FAF-A008-C0C6DF7670AB}" type="sibTrans" cxnId="{D77852D5-C6B0-4A8C-809A-3E22DFC9705A}">
      <dgm:prSet custT="1"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8D4681B-9E22-4A1D-8607-55A56658EB58}">
      <dgm:prSet custT="1"/>
      <dgm:spPr/>
      <dgm:t>
        <a:bodyPr/>
        <a:lstStyle/>
        <a:p>
          <a:r>
            <a:rPr lang="pt-BR" sz="1800" b="0" i="0" dirty="0">
              <a:latin typeface="Arial" panose="020B0604020202020204" pitchFamily="34" charset="0"/>
              <a:cs typeface="Arial" panose="020B0604020202020204" pitchFamily="34" charset="0"/>
            </a:rPr>
            <a:t>Conceitos de HTML, linguagem de marcação e estrutura básica de páginas web.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1027081-C792-4334-A2F5-C63EC97FDE36}" type="parTrans" cxnId="{C455B28E-605C-4A08-9BC4-A435316F395C}">
      <dgm:prSet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0494CC5-2DE3-4D49-B171-A8E4ACFC375D}" type="sibTrans" cxnId="{C455B28E-605C-4A08-9BC4-A435316F395C}">
      <dgm:prSet custT="1"/>
      <dgm:spPr/>
      <dgm:t>
        <a:bodyPr/>
        <a:lstStyle/>
        <a:p>
          <a:endParaRPr 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5B5AAB8-ACE0-4B4A-AC22-4B0BDC14A5D7}">
      <dgm:prSet phldr="0" custT="1"/>
      <dgm:spPr/>
      <dgm:t>
        <a:bodyPr/>
        <a:lstStyle/>
        <a:p>
          <a:r>
            <a:rPr lang="pt-BR" sz="1800" b="1" i="0" dirty="0">
              <a:latin typeface="Arial" panose="020B0604020202020204" pitchFamily="34" charset="0"/>
              <a:cs typeface="Arial" panose="020B0604020202020204" pitchFamily="34" charset="0"/>
            </a:rPr>
            <a:t>Elementos básicos (</a:t>
          </a:r>
          <a:r>
            <a:rPr lang="pt-BR" sz="1800" b="1" i="0" dirty="0" err="1">
              <a:latin typeface="Arial" panose="020B0604020202020204" pitchFamily="34" charset="0"/>
              <a:cs typeface="Arial" panose="020B0604020202020204" pitchFamily="34" charset="0"/>
            </a:rPr>
            <a:t>Tags</a:t>
          </a:r>
          <a:r>
            <a:rPr lang="pt-BR" sz="1800" b="1" i="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ea typeface="Lato"/>
            <a:cs typeface="Arial" panose="020B0604020202020204" pitchFamily="34" charset="0"/>
          </a:endParaRPr>
        </a:p>
      </dgm:t>
    </dgm:pt>
    <dgm:pt modelId="{9CB8E544-36DA-4ACD-863E-F8FF4AE4B62C}" type="parTrans" cxnId="{495B2832-9869-41F5-A0FA-846DDA1D6F4C}">
      <dgm:prSet/>
      <dgm:spPr/>
      <dgm:t>
        <a:bodyPr/>
        <a:lstStyle/>
        <a:p>
          <a:endParaRPr lang="pt-BR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0878086-9035-41F6-9768-FD19975D19C1}" type="sibTrans" cxnId="{495B2832-9869-41F5-A0FA-846DDA1D6F4C}">
      <dgm:prSet custT="1"/>
      <dgm:spPr/>
      <dgm:t>
        <a:bodyPr/>
        <a:lstStyle/>
        <a:p>
          <a:endParaRPr lang="pt-BR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7C8FA2-256E-487B-90BC-FD2FEE4D966C}">
      <dgm:prSet custT="1"/>
      <dgm:spPr/>
      <dgm:t>
        <a:bodyPr/>
        <a:lstStyle/>
        <a:p>
          <a:r>
            <a:rPr lang="en-US" sz="1800">
              <a:latin typeface="Arial" panose="020B0604020202020204" pitchFamily="34" charset="0"/>
              <a:ea typeface="Lato"/>
              <a:cs typeface="Arial" panose="020B0604020202020204" pitchFamily="34" charset="0"/>
            </a:rPr>
            <a:t>GITBUH (Rede social dos e simpatizantes de IT)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A428457-6CAA-4C5E-8B28-8073F1A4B065}" type="parTrans" cxnId="{7A2F4326-C448-40C9-92F0-02C0E6E17A47}">
      <dgm:prSet/>
      <dgm:spPr/>
      <dgm:t>
        <a:bodyPr/>
        <a:lstStyle/>
        <a:p>
          <a:endParaRPr lang="pt-B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DB8976-34ED-4226-A931-D06CC59D7B4C}" type="sibTrans" cxnId="{7A2F4326-C448-40C9-92F0-02C0E6E17A47}">
      <dgm:prSet/>
      <dgm:spPr/>
      <dgm:t>
        <a:bodyPr/>
        <a:lstStyle/>
        <a:p>
          <a:endParaRPr lang="pt-BR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CF6399B-B046-426B-94B7-0B3F9F279B9E}">
      <dgm:prSet/>
      <dgm:spPr/>
      <dgm:t>
        <a:bodyPr/>
        <a:lstStyle/>
        <a:p>
          <a:r>
            <a:rPr lang="pt-BR" dirty="0" err="1"/>
            <a:t>Difrerença</a:t>
          </a:r>
          <a:r>
            <a:rPr lang="pt-BR" dirty="0"/>
            <a:t> entre linguagem de marcação e programação; Conceito de Front </a:t>
          </a:r>
          <a:r>
            <a:rPr lang="pt-BR"/>
            <a:t>e Back-end.</a:t>
          </a:r>
          <a:endParaRPr lang="pt-PT" dirty="0"/>
        </a:p>
      </dgm:t>
    </dgm:pt>
    <dgm:pt modelId="{A722D923-ABED-4E44-84C2-F30C381D26B5}" type="parTrans" cxnId="{82C6AA1D-0F2D-4205-BC69-6FE36A07A27D}">
      <dgm:prSet/>
      <dgm:spPr/>
      <dgm:t>
        <a:bodyPr/>
        <a:lstStyle/>
        <a:p>
          <a:endParaRPr lang="pt-PT"/>
        </a:p>
      </dgm:t>
    </dgm:pt>
    <dgm:pt modelId="{20CB41FA-548F-4012-86A3-16888D24504D}" type="sibTrans" cxnId="{82C6AA1D-0F2D-4205-BC69-6FE36A07A27D}">
      <dgm:prSet/>
      <dgm:spPr/>
      <dgm:t>
        <a:bodyPr/>
        <a:lstStyle/>
        <a:p>
          <a:endParaRPr lang="pt-PT"/>
        </a:p>
      </dgm:t>
    </dgm:pt>
    <dgm:pt modelId="{3FEAA156-8005-4C23-991C-D8D153031B12}">
      <dgm:prSet phldr="0" custT="1"/>
      <dgm:spPr/>
      <dgm:t>
        <a:bodyPr/>
        <a:lstStyle/>
        <a:p>
          <a:r>
            <a:rPr lang="en-US" sz="1800" dirty="0" err="1">
              <a:solidFill>
                <a:schemeClr val="bg1"/>
              </a:solidFill>
              <a:latin typeface="Arial" panose="020B0604020202020204" pitchFamily="34" charset="0"/>
              <a:ea typeface="Lato"/>
              <a:cs typeface="Arial" panose="020B0604020202020204" pitchFamily="34" charset="0"/>
            </a:rPr>
            <a:t>Atributos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ea typeface="Lato"/>
            <a:cs typeface="Arial" panose="020B0604020202020204" pitchFamily="34" charset="0"/>
          </a:endParaRPr>
        </a:p>
      </dgm:t>
    </dgm:pt>
    <dgm:pt modelId="{10CE4906-C97D-4317-9B46-DD662BC390EA}" type="parTrans" cxnId="{185C65DD-B7F6-4E85-9520-D17280E72DDB}">
      <dgm:prSet/>
      <dgm:spPr/>
      <dgm:t>
        <a:bodyPr/>
        <a:lstStyle/>
        <a:p>
          <a:endParaRPr lang="pt-PT"/>
        </a:p>
      </dgm:t>
    </dgm:pt>
    <dgm:pt modelId="{50293C3B-26D2-42D1-8413-5A979FF26948}" type="sibTrans" cxnId="{185C65DD-B7F6-4E85-9520-D17280E72DDB}">
      <dgm:prSet/>
      <dgm:spPr/>
      <dgm:t>
        <a:bodyPr/>
        <a:lstStyle/>
        <a:p>
          <a:endParaRPr lang="pt-PT"/>
        </a:p>
      </dgm:t>
    </dgm:pt>
    <dgm:pt modelId="{42778DBD-01BD-4B41-B715-EF80644D5956}">
      <dgm:prSet phldr="0" custT="1"/>
      <dgm:spPr/>
      <dgm:t>
        <a:bodyPr/>
        <a:lstStyle/>
        <a:p>
          <a:r>
            <a:rPr lang="en-US" sz="1800" dirty="0" err="1">
              <a:solidFill>
                <a:schemeClr val="bg1"/>
              </a:solidFill>
              <a:latin typeface="Arial" panose="020B0604020202020204" pitchFamily="34" charset="0"/>
              <a:ea typeface="Lato"/>
              <a:cs typeface="Arial" panose="020B0604020202020204" pitchFamily="34" charset="0"/>
            </a:rPr>
            <a:t>Propriedades</a:t>
          </a:r>
          <a:endParaRPr lang="en-US" sz="1800" dirty="0">
            <a:solidFill>
              <a:schemeClr val="bg1"/>
            </a:solidFill>
            <a:latin typeface="Arial" panose="020B0604020202020204" pitchFamily="34" charset="0"/>
            <a:ea typeface="Lato"/>
            <a:cs typeface="Arial" panose="020B0604020202020204" pitchFamily="34" charset="0"/>
          </a:endParaRPr>
        </a:p>
      </dgm:t>
    </dgm:pt>
    <dgm:pt modelId="{2C7818D3-9CA7-48BC-BF41-94F3971870B9}" type="parTrans" cxnId="{03D9892A-5E41-4C70-B438-1281E1CC208F}">
      <dgm:prSet/>
      <dgm:spPr/>
      <dgm:t>
        <a:bodyPr/>
        <a:lstStyle/>
        <a:p>
          <a:endParaRPr lang="pt-PT"/>
        </a:p>
      </dgm:t>
    </dgm:pt>
    <dgm:pt modelId="{1345794B-03E2-4620-A8A0-34C62345F920}" type="sibTrans" cxnId="{03D9892A-5E41-4C70-B438-1281E1CC208F}">
      <dgm:prSet/>
      <dgm:spPr/>
      <dgm:t>
        <a:bodyPr/>
        <a:lstStyle/>
        <a:p>
          <a:endParaRPr lang="pt-PT"/>
        </a:p>
      </dgm:t>
    </dgm:pt>
    <dgm:pt modelId="{2080B293-7DC5-4119-B98D-32703C60687A}" type="pres">
      <dgm:prSet presAssocID="{2974B059-3B68-4C5B-A8CF-8E69A0DBA270}" presName="Name0" presStyleCnt="0">
        <dgm:presLayoutVars>
          <dgm:dir/>
          <dgm:resizeHandles val="exact"/>
        </dgm:presLayoutVars>
      </dgm:prSet>
      <dgm:spPr/>
    </dgm:pt>
    <dgm:pt modelId="{40698D57-CB01-4E33-8879-D28A927C255F}" type="pres">
      <dgm:prSet presAssocID="{F8EDA5A3-9A04-40D8-AC52-16B48DD5403C}" presName="node" presStyleLbl="node1" presStyleIdx="0" presStyleCnt="7" custScaleX="180433">
        <dgm:presLayoutVars>
          <dgm:bulletEnabled val="1"/>
        </dgm:presLayoutVars>
      </dgm:prSet>
      <dgm:spPr/>
    </dgm:pt>
    <dgm:pt modelId="{BD9BB95B-B84D-4EA3-BFC9-170AD7B0EEE6}" type="pres">
      <dgm:prSet presAssocID="{3AD4AA55-0262-4FAF-A008-C0C6DF7670AB}" presName="sibTrans" presStyleLbl="sibTrans1D1" presStyleIdx="0" presStyleCnt="6"/>
      <dgm:spPr/>
    </dgm:pt>
    <dgm:pt modelId="{F394AA00-CFC8-4AB6-AFA9-679DD6C242ED}" type="pres">
      <dgm:prSet presAssocID="{3AD4AA55-0262-4FAF-A008-C0C6DF7670AB}" presName="connectorText" presStyleLbl="sibTrans1D1" presStyleIdx="0" presStyleCnt="6"/>
      <dgm:spPr/>
    </dgm:pt>
    <dgm:pt modelId="{ED8CB48E-F633-42BF-83C4-FE8A3934726B}" type="pres">
      <dgm:prSet presAssocID="{BCF6399B-B046-426B-94B7-0B3F9F279B9E}" presName="node" presStyleLbl="node1" presStyleIdx="1" presStyleCnt="7">
        <dgm:presLayoutVars>
          <dgm:bulletEnabled val="1"/>
        </dgm:presLayoutVars>
      </dgm:prSet>
      <dgm:spPr/>
    </dgm:pt>
    <dgm:pt modelId="{DA2FD5BF-A923-4A56-AE59-E72979264029}" type="pres">
      <dgm:prSet presAssocID="{20CB41FA-548F-4012-86A3-16888D24504D}" presName="sibTrans" presStyleLbl="sibTrans1D1" presStyleIdx="1" presStyleCnt="6"/>
      <dgm:spPr/>
    </dgm:pt>
    <dgm:pt modelId="{9731FB89-7FFE-4A98-B0B0-9529D98E0E1C}" type="pres">
      <dgm:prSet presAssocID="{20CB41FA-548F-4012-86A3-16888D24504D}" presName="connectorText" presStyleLbl="sibTrans1D1" presStyleIdx="1" presStyleCnt="6"/>
      <dgm:spPr/>
    </dgm:pt>
    <dgm:pt modelId="{C2897836-CD06-409F-B44D-12F38325BCE6}" type="pres">
      <dgm:prSet presAssocID="{88D4681B-9E22-4A1D-8607-55A56658EB58}" presName="node" presStyleLbl="node1" presStyleIdx="2" presStyleCnt="7" custScaleX="180433">
        <dgm:presLayoutVars>
          <dgm:bulletEnabled val="1"/>
        </dgm:presLayoutVars>
      </dgm:prSet>
      <dgm:spPr/>
    </dgm:pt>
    <dgm:pt modelId="{F1E3BECA-C35C-45DE-BE3D-03F80CEAE881}" type="pres">
      <dgm:prSet presAssocID="{30494CC5-2DE3-4D49-B171-A8E4ACFC375D}" presName="sibTrans" presStyleLbl="sibTrans1D1" presStyleIdx="2" presStyleCnt="6"/>
      <dgm:spPr/>
    </dgm:pt>
    <dgm:pt modelId="{D5778CBB-5712-4070-81A3-196ED0EEE3F3}" type="pres">
      <dgm:prSet presAssocID="{30494CC5-2DE3-4D49-B171-A8E4ACFC375D}" presName="connectorText" presStyleLbl="sibTrans1D1" presStyleIdx="2" presStyleCnt="6"/>
      <dgm:spPr/>
    </dgm:pt>
    <dgm:pt modelId="{29E33D5C-1842-4F01-86CB-B7F3B9856AA5}" type="pres">
      <dgm:prSet presAssocID="{A87C8FA2-256E-487B-90BC-FD2FEE4D966C}" presName="node" presStyleLbl="node1" presStyleIdx="3" presStyleCnt="7" custScaleX="180433">
        <dgm:presLayoutVars>
          <dgm:bulletEnabled val="1"/>
        </dgm:presLayoutVars>
      </dgm:prSet>
      <dgm:spPr/>
    </dgm:pt>
    <dgm:pt modelId="{BEEC36C5-43B8-4415-A58D-530017D43AB7}" type="pres">
      <dgm:prSet presAssocID="{33DB8976-34ED-4226-A931-D06CC59D7B4C}" presName="sibTrans" presStyleLbl="sibTrans1D1" presStyleIdx="3" presStyleCnt="6"/>
      <dgm:spPr/>
    </dgm:pt>
    <dgm:pt modelId="{3283D219-B8DE-4D96-982C-3782531F33B5}" type="pres">
      <dgm:prSet presAssocID="{33DB8976-34ED-4226-A931-D06CC59D7B4C}" presName="connectorText" presStyleLbl="sibTrans1D1" presStyleIdx="3" presStyleCnt="6"/>
      <dgm:spPr/>
    </dgm:pt>
    <dgm:pt modelId="{00AE7FCA-E99F-4E80-90A8-6FDCF7F08112}" type="pres">
      <dgm:prSet presAssocID="{85B5AAB8-ACE0-4B4A-AC22-4B0BDC14A5D7}" presName="node" presStyleLbl="node1" presStyleIdx="4" presStyleCnt="7" custScaleX="180433">
        <dgm:presLayoutVars>
          <dgm:bulletEnabled val="1"/>
        </dgm:presLayoutVars>
      </dgm:prSet>
      <dgm:spPr/>
    </dgm:pt>
    <dgm:pt modelId="{613B2B43-66E8-45BF-9683-A27F03F6FFA9}" type="pres">
      <dgm:prSet presAssocID="{A0878086-9035-41F6-9768-FD19975D19C1}" presName="sibTrans" presStyleLbl="sibTrans1D1" presStyleIdx="4" presStyleCnt="6"/>
      <dgm:spPr/>
    </dgm:pt>
    <dgm:pt modelId="{6A418D86-8A9D-40C6-B398-F127F90C9674}" type="pres">
      <dgm:prSet presAssocID="{A0878086-9035-41F6-9768-FD19975D19C1}" presName="connectorText" presStyleLbl="sibTrans1D1" presStyleIdx="4" presStyleCnt="6"/>
      <dgm:spPr/>
    </dgm:pt>
    <dgm:pt modelId="{2176E804-0FB7-4A6A-B318-F3EAC1A941CF}" type="pres">
      <dgm:prSet presAssocID="{3FEAA156-8005-4C23-991C-D8D153031B12}" presName="node" presStyleLbl="node1" presStyleIdx="5" presStyleCnt="7">
        <dgm:presLayoutVars>
          <dgm:bulletEnabled val="1"/>
        </dgm:presLayoutVars>
      </dgm:prSet>
      <dgm:spPr/>
    </dgm:pt>
    <dgm:pt modelId="{E062ED12-E03D-4A34-8C34-08BE8D7C0A96}" type="pres">
      <dgm:prSet presAssocID="{50293C3B-26D2-42D1-8413-5A979FF26948}" presName="sibTrans" presStyleLbl="sibTrans1D1" presStyleIdx="5" presStyleCnt="6"/>
      <dgm:spPr/>
    </dgm:pt>
    <dgm:pt modelId="{C6CBF313-5EC0-4A44-AB4E-05EDA3605D13}" type="pres">
      <dgm:prSet presAssocID="{50293C3B-26D2-42D1-8413-5A979FF26948}" presName="connectorText" presStyleLbl="sibTrans1D1" presStyleIdx="5" presStyleCnt="6"/>
      <dgm:spPr/>
    </dgm:pt>
    <dgm:pt modelId="{935A1FCA-C770-46FE-9503-910666FC6948}" type="pres">
      <dgm:prSet presAssocID="{42778DBD-01BD-4B41-B715-EF80644D5956}" presName="node" presStyleLbl="node1" presStyleIdx="6" presStyleCnt="7">
        <dgm:presLayoutVars>
          <dgm:bulletEnabled val="1"/>
        </dgm:presLayoutVars>
      </dgm:prSet>
      <dgm:spPr/>
    </dgm:pt>
  </dgm:ptLst>
  <dgm:cxnLst>
    <dgm:cxn modelId="{82C6AA1D-0F2D-4205-BC69-6FE36A07A27D}" srcId="{2974B059-3B68-4C5B-A8CF-8E69A0DBA270}" destId="{BCF6399B-B046-426B-94B7-0B3F9F279B9E}" srcOrd="1" destOrd="0" parTransId="{A722D923-ABED-4E44-84C2-F30C381D26B5}" sibTransId="{20CB41FA-548F-4012-86A3-16888D24504D}"/>
    <dgm:cxn modelId="{7A2F4326-C448-40C9-92F0-02C0E6E17A47}" srcId="{2974B059-3B68-4C5B-A8CF-8E69A0DBA270}" destId="{A87C8FA2-256E-487B-90BC-FD2FEE4D966C}" srcOrd="3" destOrd="0" parTransId="{6A428457-6CAA-4C5E-8B28-8073F1A4B065}" sibTransId="{33DB8976-34ED-4226-A931-D06CC59D7B4C}"/>
    <dgm:cxn modelId="{03D9892A-5E41-4C70-B438-1281E1CC208F}" srcId="{2974B059-3B68-4C5B-A8CF-8E69A0DBA270}" destId="{42778DBD-01BD-4B41-B715-EF80644D5956}" srcOrd="6" destOrd="0" parTransId="{2C7818D3-9CA7-48BC-BF41-94F3971870B9}" sibTransId="{1345794B-03E2-4620-A8A0-34C62345F920}"/>
    <dgm:cxn modelId="{495B2832-9869-41F5-A0FA-846DDA1D6F4C}" srcId="{2974B059-3B68-4C5B-A8CF-8E69A0DBA270}" destId="{85B5AAB8-ACE0-4B4A-AC22-4B0BDC14A5D7}" srcOrd="4" destOrd="0" parTransId="{9CB8E544-36DA-4ACD-863E-F8FF4AE4B62C}" sibTransId="{A0878086-9035-41F6-9768-FD19975D19C1}"/>
    <dgm:cxn modelId="{2A06603F-2F0E-4851-B0DB-7F7613292411}" type="presOf" srcId="{F8EDA5A3-9A04-40D8-AC52-16B48DD5403C}" destId="{40698D57-CB01-4E33-8879-D28A927C255F}" srcOrd="0" destOrd="0" presId="urn:microsoft.com/office/officeart/2016/7/layout/RepeatingBendingProcessNew"/>
    <dgm:cxn modelId="{C7863D5D-C5E6-4AA3-A92F-5696DE923CDD}" type="presOf" srcId="{30494CC5-2DE3-4D49-B171-A8E4ACFC375D}" destId="{D5778CBB-5712-4070-81A3-196ED0EEE3F3}" srcOrd="1" destOrd="0" presId="urn:microsoft.com/office/officeart/2016/7/layout/RepeatingBendingProcessNew"/>
    <dgm:cxn modelId="{0811EA61-B62F-41FF-AAB3-1EE728404A6D}" type="presOf" srcId="{30494CC5-2DE3-4D49-B171-A8E4ACFC375D}" destId="{F1E3BECA-C35C-45DE-BE3D-03F80CEAE881}" srcOrd="0" destOrd="0" presId="urn:microsoft.com/office/officeart/2016/7/layout/RepeatingBendingProcessNew"/>
    <dgm:cxn modelId="{59572F63-9048-4136-8D3E-9EE11BE52AAE}" type="presOf" srcId="{3FEAA156-8005-4C23-991C-D8D153031B12}" destId="{2176E804-0FB7-4A6A-B318-F3EAC1A941CF}" srcOrd="0" destOrd="0" presId="urn:microsoft.com/office/officeart/2016/7/layout/RepeatingBendingProcessNew"/>
    <dgm:cxn modelId="{21BC1567-CFFA-4230-823B-0D0D59196C29}" type="presOf" srcId="{A0878086-9035-41F6-9768-FD19975D19C1}" destId="{6A418D86-8A9D-40C6-B398-F127F90C9674}" srcOrd="1" destOrd="0" presId="urn:microsoft.com/office/officeart/2016/7/layout/RepeatingBendingProcessNew"/>
    <dgm:cxn modelId="{AFD10368-671B-4C26-9A14-A6C264E9B5FC}" type="presOf" srcId="{3AD4AA55-0262-4FAF-A008-C0C6DF7670AB}" destId="{BD9BB95B-B84D-4EA3-BFC9-170AD7B0EEE6}" srcOrd="0" destOrd="0" presId="urn:microsoft.com/office/officeart/2016/7/layout/RepeatingBendingProcessNew"/>
    <dgm:cxn modelId="{558AC84D-F348-4FA7-B8B5-776A116821EF}" type="presOf" srcId="{A0878086-9035-41F6-9768-FD19975D19C1}" destId="{613B2B43-66E8-45BF-9683-A27F03F6FFA9}" srcOrd="0" destOrd="0" presId="urn:microsoft.com/office/officeart/2016/7/layout/RepeatingBendingProcessNew"/>
    <dgm:cxn modelId="{C4494C51-FB1F-44F9-8549-2BFA5BC01A51}" type="presOf" srcId="{50293C3B-26D2-42D1-8413-5A979FF26948}" destId="{E062ED12-E03D-4A34-8C34-08BE8D7C0A96}" srcOrd="0" destOrd="0" presId="urn:microsoft.com/office/officeart/2016/7/layout/RepeatingBendingProcessNew"/>
    <dgm:cxn modelId="{1591198D-63A4-4437-8746-79126CD04DC4}" type="presOf" srcId="{33DB8976-34ED-4226-A931-D06CC59D7B4C}" destId="{BEEC36C5-43B8-4415-A58D-530017D43AB7}" srcOrd="0" destOrd="0" presId="urn:microsoft.com/office/officeart/2016/7/layout/RepeatingBendingProcessNew"/>
    <dgm:cxn modelId="{BEDB928E-2D4A-4CC7-ABFB-C0FCCA3388EB}" type="presOf" srcId="{3AD4AA55-0262-4FAF-A008-C0C6DF7670AB}" destId="{F394AA00-CFC8-4AB6-AFA9-679DD6C242ED}" srcOrd="1" destOrd="0" presId="urn:microsoft.com/office/officeart/2016/7/layout/RepeatingBendingProcessNew"/>
    <dgm:cxn modelId="{C455B28E-605C-4A08-9BC4-A435316F395C}" srcId="{2974B059-3B68-4C5B-A8CF-8E69A0DBA270}" destId="{88D4681B-9E22-4A1D-8607-55A56658EB58}" srcOrd="2" destOrd="0" parTransId="{A1027081-C792-4334-A2F5-C63EC97FDE36}" sibTransId="{30494CC5-2DE3-4D49-B171-A8E4ACFC375D}"/>
    <dgm:cxn modelId="{5E5FD4A2-98DB-42F0-B2CD-62D05474930B}" type="presOf" srcId="{2974B059-3B68-4C5B-A8CF-8E69A0DBA270}" destId="{2080B293-7DC5-4119-B98D-32703C60687A}" srcOrd="0" destOrd="0" presId="urn:microsoft.com/office/officeart/2016/7/layout/RepeatingBendingProcessNew"/>
    <dgm:cxn modelId="{46E431A4-6834-4F06-929A-346B08B0536E}" type="presOf" srcId="{85B5AAB8-ACE0-4B4A-AC22-4B0BDC14A5D7}" destId="{00AE7FCA-E99F-4E80-90A8-6FDCF7F08112}" srcOrd="0" destOrd="0" presId="urn:microsoft.com/office/officeart/2016/7/layout/RepeatingBendingProcessNew"/>
    <dgm:cxn modelId="{180A29A8-DC93-47E0-9B79-7D42774AFAFB}" type="presOf" srcId="{50293C3B-26D2-42D1-8413-5A979FF26948}" destId="{C6CBF313-5EC0-4A44-AB4E-05EDA3605D13}" srcOrd="1" destOrd="0" presId="urn:microsoft.com/office/officeart/2016/7/layout/RepeatingBendingProcessNew"/>
    <dgm:cxn modelId="{F78045C4-4C78-4214-99E3-E1E651B0DF84}" type="presOf" srcId="{A87C8FA2-256E-487B-90BC-FD2FEE4D966C}" destId="{29E33D5C-1842-4F01-86CB-B7F3B9856AA5}" srcOrd="0" destOrd="0" presId="urn:microsoft.com/office/officeart/2016/7/layout/RepeatingBendingProcessNew"/>
    <dgm:cxn modelId="{D77852D5-C6B0-4A8C-809A-3E22DFC9705A}" srcId="{2974B059-3B68-4C5B-A8CF-8E69A0DBA270}" destId="{F8EDA5A3-9A04-40D8-AC52-16B48DD5403C}" srcOrd="0" destOrd="0" parTransId="{4C6F25C0-BD50-4224-849C-02339B23AA27}" sibTransId="{3AD4AA55-0262-4FAF-A008-C0C6DF7670AB}"/>
    <dgm:cxn modelId="{87198FD8-028F-474D-A2C7-172BFD92A2DA}" type="presOf" srcId="{20CB41FA-548F-4012-86A3-16888D24504D}" destId="{DA2FD5BF-A923-4A56-AE59-E72979264029}" srcOrd="0" destOrd="0" presId="urn:microsoft.com/office/officeart/2016/7/layout/RepeatingBendingProcessNew"/>
    <dgm:cxn modelId="{185C65DD-B7F6-4E85-9520-D17280E72DDB}" srcId="{2974B059-3B68-4C5B-A8CF-8E69A0DBA270}" destId="{3FEAA156-8005-4C23-991C-D8D153031B12}" srcOrd="5" destOrd="0" parTransId="{10CE4906-C97D-4317-9B46-DD662BC390EA}" sibTransId="{50293C3B-26D2-42D1-8413-5A979FF26948}"/>
    <dgm:cxn modelId="{3E8C9EDE-638E-4512-BE6A-F364543EB046}" type="presOf" srcId="{20CB41FA-548F-4012-86A3-16888D24504D}" destId="{9731FB89-7FFE-4A98-B0B0-9529D98E0E1C}" srcOrd="1" destOrd="0" presId="urn:microsoft.com/office/officeart/2016/7/layout/RepeatingBendingProcessNew"/>
    <dgm:cxn modelId="{458887EB-6530-41FA-920A-FFD7394C3C7D}" type="presOf" srcId="{BCF6399B-B046-426B-94B7-0B3F9F279B9E}" destId="{ED8CB48E-F633-42BF-83C4-FE8A3934726B}" srcOrd="0" destOrd="0" presId="urn:microsoft.com/office/officeart/2016/7/layout/RepeatingBendingProcessNew"/>
    <dgm:cxn modelId="{BA7E49F2-6157-4641-9331-ABC430C8895C}" type="presOf" srcId="{33DB8976-34ED-4226-A931-D06CC59D7B4C}" destId="{3283D219-B8DE-4D96-982C-3782531F33B5}" srcOrd="1" destOrd="0" presId="urn:microsoft.com/office/officeart/2016/7/layout/RepeatingBendingProcessNew"/>
    <dgm:cxn modelId="{5AE8C0F2-8DAF-464C-B796-A84051BEB56F}" type="presOf" srcId="{42778DBD-01BD-4B41-B715-EF80644D5956}" destId="{935A1FCA-C770-46FE-9503-910666FC6948}" srcOrd="0" destOrd="0" presId="urn:microsoft.com/office/officeart/2016/7/layout/RepeatingBendingProcessNew"/>
    <dgm:cxn modelId="{F3D9F6FB-1C59-4512-8EF6-3180F5EFC186}" type="presOf" srcId="{88D4681B-9E22-4A1D-8607-55A56658EB58}" destId="{C2897836-CD06-409F-B44D-12F38325BCE6}" srcOrd="0" destOrd="0" presId="urn:microsoft.com/office/officeart/2016/7/layout/RepeatingBendingProcessNew"/>
    <dgm:cxn modelId="{130B9E46-A74E-4111-A2E5-9B6A4CCEF434}" type="presParOf" srcId="{2080B293-7DC5-4119-B98D-32703C60687A}" destId="{40698D57-CB01-4E33-8879-D28A927C255F}" srcOrd="0" destOrd="0" presId="urn:microsoft.com/office/officeart/2016/7/layout/RepeatingBendingProcessNew"/>
    <dgm:cxn modelId="{DC265A55-0AB8-4F78-815C-0DE450267272}" type="presParOf" srcId="{2080B293-7DC5-4119-B98D-32703C60687A}" destId="{BD9BB95B-B84D-4EA3-BFC9-170AD7B0EEE6}" srcOrd="1" destOrd="0" presId="urn:microsoft.com/office/officeart/2016/7/layout/RepeatingBendingProcessNew"/>
    <dgm:cxn modelId="{5BF09995-9B7B-49EA-89F6-1E469EE7D3BA}" type="presParOf" srcId="{BD9BB95B-B84D-4EA3-BFC9-170AD7B0EEE6}" destId="{F394AA00-CFC8-4AB6-AFA9-679DD6C242ED}" srcOrd="0" destOrd="0" presId="urn:microsoft.com/office/officeart/2016/7/layout/RepeatingBendingProcessNew"/>
    <dgm:cxn modelId="{2093D560-C477-40AB-A556-620B29BAC5F1}" type="presParOf" srcId="{2080B293-7DC5-4119-B98D-32703C60687A}" destId="{ED8CB48E-F633-42BF-83C4-FE8A3934726B}" srcOrd="2" destOrd="0" presId="urn:microsoft.com/office/officeart/2016/7/layout/RepeatingBendingProcessNew"/>
    <dgm:cxn modelId="{0B0854FB-CDA1-4EF2-B09E-FE5DB1034142}" type="presParOf" srcId="{2080B293-7DC5-4119-B98D-32703C60687A}" destId="{DA2FD5BF-A923-4A56-AE59-E72979264029}" srcOrd="3" destOrd="0" presId="urn:microsoft.com/office/officeart/2016/7/layout/RepeatingBendingProcessNew"/>
    <dgm:cxn modelId="{864E4A47-6B60-49BD-8FED-5484E3700574}" type="presParOf" srcId="{DA2FD5BF-A923-4A56-AE59-E72979264029}" destId="{9731FB89-7FFE-4A98-B0B0-9529D98E0E1C}" srcOrd="0" destOrd="0" presId="urn:microsoft.com/office/officeart/2016/7/layout/RepeatingBendingProcessNew"/>
    <dgm:cxn modelId="{E4BC7DBB-CEAD-426A-9D28-DC4B5D6353B2}" type="presParOf" srcId="{2080B293-7DC5-4119-B98D-32703C60687A}" destId="{C2897836-CD06-409F-B44D-12F38325BCE6}" srcOrd="4" destOrd="0" presId="urn:microsoft.com/office/officeart/2016/7/layout/RepeatingBendingProcessNew"/>
    <dgm:cxn modelId="{D60DA22A-4DC8-47F3-9377-3190ECACBFAF}" type="presParOf" srcId="{2080B293-7DC5-4119-B98D-32703C60687A}" destId="{F1E3BECA-C35C-45DE-BE3D-03F80CEAE881}" srcOrd="5" destOrd="0" presId="urn:microsoft.com/office/officeart/2016/7/layout/RepeatingBendingProcessNew"/>
    <dgm:cxn modelId="{D288E805-4404-4F25-8366-8E24180FAAB3}" type="presParOf" srcId="{F1E3BECA-C35C-45DE-BE3D-03F80CEAE881}" destId="{D5778CBB-5712-4070-81A3-196ED0EEE3F3}" srcOrd="0" destOrd="0" presId="urn:microsoft.com/office/officeart/2016/7/layout/RepeatingBendingProcessNew"/>
    <dgm:cxn modelId="{4EDB8F8C-BCA0-4780-9C1B-D37D8A6CDA2C}" type="presParOf" srcId="{2080B293-7DC5-4119-B98D-32703C60687A}" destId="{29E33D5C-1842-4F01-86CB-B7F3B9856AA5}" srcOrd="6" destOrd="0" presId="urn:microsoft.com/office/officeart/2016/7/layout/RepeatingBendingProcessNew"/>
    <dgm:cxn modelId="{861319C3-B7EC-432F-BB6C-721ECC636FB9}" type="presParOf" srcId="{2080B293-7DC5-4119-B98D-32703C60687A}" destId="{BEEC36C5-43B8-4415-A58D-530017D43AB7}" srcOrd="7" destOrd="0" presId="urn:microsoft.com/office/officeart/2016/7/layout/RepeatingBendingProcessNew"/>
    <dgm:cxn modelId="{0ABC9009-198F-41B2-B375-DF300D56B6BB}" type="presParOf" srcId="{BEEC36C5-43B8-4415-A58D-530017D43AB7}" destId="{3283D219-B8DE-4D96-982C-3782531F33B5}" srcOrd="0" destOrd="0" presId="urn:microsoft.com/office/officeart/2016/7/layout/RepeatingBendingProcessNew"/>
    <dgm:cxn modelId="{02707EE3-8D79-4B60-A843-A45DE9AF6768}" type="presParOf" srcId="{2080B293-7DC5-4119-B98D-32703C60687A}" destId="{00AE7FCA-E99F-4E80-90A8-6FDCF7F08112}" srcOrd="8" destOrd="0" presId="urn:microsoft.com/office/officeart/2016/7/layout/RepeatingBendingProcessNew"/>
    <dgm:cxn modelId="{4F06C4AE-57C1-4242-8139-FE9DC4AFBCAC}" type="presParOf" srcId="{2080B293-7DC5-4119-B98D-32703C60687A}" destId="{613B2B43-66E8-45BF-9683-A27F03F6FFA9}" srcOrd="9" destOrd="0" presId="urn:microsoft.com/office/officeart/2016/7/layout/RepeatingBendingProcessNew"/>
    <dgm:cxn modelId="{946B819E-6B13-4C4F-A4FE-2B63B34D4990}" type="presParOf" srcId="{613B2B43-66E8-45BF-9683-A27F03F6FFA9}" destId="{6A418D86-8A9D-40C6-B398-F127F90C9674}" srcOrd="0" destOrd="0" presId="urn:microsoft.com/office/officeart/2016/7/layout/RepeatingBendingProcessNew"/>
    <dgm:cxn modelId="{E0FF9F07-91AF-4867-AC30-5F31F039EF7A}" type="presParOf" srcId="{2080B293-7DC5-4119-B98D-32703C60687A}" destId="{2176E804-0FB7-4A6A-B318-F3EAC1A941CF}" srcOrd="10" destOrd="0" presId="urn:microsoft.com/office/officeart/2016/7/layout/RepeatingBendingProcessNew"/>
    <dgm:cxn modelId="{8CDA82ED-FCBD-49A8-90B7-85025264E176}" type="presParOf" srcId="{2080B293-7DC5-4119-B98D-32703C60687A}" destId="{E062ED12-E03D-4A34-8C34-08BE8D7C0A96}" srcOrd="11" destOrd="0" presId="urn:microsoft.com/office/officeart/2016/7/layout/RepeatingBendingProcessNew"/>
    <dgm:cxn modelId="{5F4F4477-42ED-46A6-B0A4-9828F7D6D490}" type="presParOf" srcId="{E062ED12-E03D-4A34-8C34-08BE8D7C0A96}" destId="{C6CBF313-5EC0-4A44-AB4E-05EDA3605D13}" srcOrd="0" destOrd="0" presId="urn:microsoft.com/office/officeart/2016/7/layout/RepeatingBendingProcessNew"/>
    <dgm:cxn modelId="{572DB1A6-566C-4134-B7A2-460F68EFDABD}" type="presParOf" srcId="{2080B293-7DC5-4119-B98D-32703C60687A}" destId="{935A1FCA-C770-46FE-9503-910666FC6948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9BB95B-B84D-4EA3-BFC9-170AD7B0EEE6}">
      <dsp:nvSpPr>
        <dsp:cNvPr id="0" name=""/>
        <dsp:cNvSpPr/>
      </dsp:nvSpPr>
      <dsp:spPr>
        <a:xfrm>
          <a:off x="2914344" y="938303"/>
          <a:ext cx="3404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0455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75295" y="982166"/>
        <a:ext cx="18552" cy="3714"/>
      </dsp:txXfrm>
    </dsp:sp>
    <dsp:sp modelId="{40698D57-CB01-4E33-8879-D28A927C255F}">
      <dsp:nvSpPr>
        <dsp:cNvPr id="0" name=""/>
        <dsp:cNvSpPr/>
      </dsp:nvSpPr>
      <dsp:spPr>
        <a:xfrm>
          <a:off x="5249" y="500038"/>
          <a:ext cx="2910895" cy="967970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052" tIns="82979" rIns="79052" bIns="8297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" panose="020B0604020202020204" pitchFamily="34" charset="0"/>
              <a:cs typeface="Arial" panose="020B0604020202020204" pitchFamily="34" charset="0"/>
            </a:rPr>
            <a:t>TÓPICOS:</a:t>
          </a:r>
        </a:p>
      </dsp:txBody>
      <dsp:txXfrm>
        <a:off x="5249" y="500038"/>
        <a:ext cx="2910895" cy="967970"/>
      </dsp:txXfrm>
    </dsp:sp>
    <dsp:sp modelId="{DA2FD5BF-A923-4A56-AE59-E72979264029}">
      <dsp:nvSpPr>
        <dsp:cNvPr id="0" name=""/>
        <dsp:cNvSpPr/>
      </dsp:nvSpPr>
      <dsp:spPr>
        <a:xfrm>
          <a:off x="1460696" y="1466208"/>
          <a:ext cx="2633144" cy="340455"/>
        </a:xfrm>
        <a:custGeom>
          <a:avLst/>
          <a:gdLst/>
          <a:ahLst/>
          <a:cxnLst/>
          <a:rect l="0" t="0" r="0" b="0"/>
          <a:pathLst>
            <a:path>
              <a:moveTo>
                <a:pt x="2633144" y="0"/>
              </a:moveTo>
              <a:lnTo>
                <a:pt x="2633144" y="187327"/>
              </a:lnTo>
              <a:lnTo>
                <a:pt x="0" y="187327"/>
              </a:lnTo>
              <a:lnTo>
                <a:pt x="0" y="34045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2710790" y="1634579"/>
        <a:ext cx="132958" cy="3714"/>
      </dsp:txXfrm>
    </dsp:sp>
    <dsp:sp modelId="{ED8CB48E-F633-42BF-83C4-FE8A3934726B}">
      <dsp:nvSpPr>
        <dsp:cNvPr id="0" name=""/>
        <dsp:cNvSpPr/>
      </dsp:nvSpPr>
      <dsp:spPr>
        <a:xfrm>
          <a:off x="3287199" y="500038"/>
          <a:ext cx="1613283" cy="96797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052" tIns="82979" rIns="79052" bIns="82979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 err="1"/>
            <a:t>Difrerença</a:t>
          </a:r>
          <a:r>
            <a:rPr lang="pt-BR" sz="1200" kern="1200" dirty="0"/>
            <a:t> entre linguagem de marcação e programação; Conceito de Front </a:t>
          </a:r>
          <a:r>
            <a:rPr lang="pt-BR" sz="1200" kern="1200"/>
            <a:t>e Back-end.</a:t>
          </a:r>
          <a:endParaRPr lang="pt-PT" sz="1200" kern="1200" dirty="0"/>
        </a:p>
      </dsp:txBody>
      <dsp:txXfrm>
        <a:off x="3287199" y="500038"/>
        <a:ext cx="1613283" cy="967970"/>
      </dsp:txXfrm>
    </dsp:sp>
    <dsp:sp modelId="{F1E3BECA-C35C-45DE-BE3D-03F80CEAE881}">
      <dsp:nvSpPr>
        <dsp:cNvPr id="0" name=""/>
        <dsp:cNvSpPr/>
      </dsp:nvSpPr>
      <dsp:spPr>
        <a:xfrm>
          <a:off x="2914344" y="2277329"/>
          <a:ext cx="3404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0455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75295" y="2321191"/>
        <a:ext cx="18552" cy="3714"/>
      </dsp:txXfrm>
    </dsp:sp>
    <dsp:sp modelId="{C2897836-CD06-409F-B44D-12F38325BCE6}">
      <dsp:nvSpPr>
        <dsp:cNvPr id="0" name=""/>
        <dsp:cNvSpPr/>
      </dsp:nvSpPr>
      <dsp:spPr>
        <a:xfrm>
          <a:off x="5249" y="1839063"/>
          <a:ext cx="2910895" cy="96797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052" tIns="82979" rIns="79052" bIns="8297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0" i="0" kern="1200" dirty="0">
              <a:latin typeface="Arial" panose="020B0604020202020204" pitchFamily="34" charset="0"/>
              <a:cs typeface="Arial" panose="020B0604020202020204" pitchFamily="34" charset="0"/>
            </a:rPr>
            <a:t>Conceitos de HTML, linguagem de marcação e estrutura básica de páginas web.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49" y="1839063"/>
        <a:ext cx="2910895" cy="967970"/>
      </dsp:txXfrm>
    </dsp:sp>
    <dsp:sp modelId="{BEEC36C5-43B8-4415-A58D-530017D43AB7}">
      <dsp:nvSpPr>
        <dsp:cNvPr id="0" name=""/>
        <dsp:cNvSpPr/>
      </dsp:nvSpPr>
      <dsp:spPr>
        <a:xfrm>
          <a:off x="1460696" y="2805234"/>
          <a:ext cx="3281950" cy="340455"/>
        </a:xfrm>
        <a:custGeom>
          <a:avLst/>
          <a:gdLst/>
          <a:ahLst/>
          <a:cxnLst/>
          <a:rect l="0" t="0" r="0" b="0"/>
          <a:pathLst>
            <a:path>
              <a:moveTo>
                <a:pt x="3281950" y="0"/>
              </a:moveTo>
              <a:lnTo>
                <a:pt x="3281950" y="187327"/>
              </a:lnTo>
              <a:lnTo>
                <a:pt x="0" y="187327"/>
              </a:lnTo>
              <a:lnTo>
                <a:pt x="0" y="340455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19100" y="2973604"/>
        <a:ext cx="165142" cy="3714"/>
      </dsp:txXfrm>
    </dsp:sp>
    <dsp:sp modelId="{29E33D5C-1842-4F01-86CB-B7F3B9856AA5}">
      <dsp:nvSpPr>
        <dsp:cNvPr id="0" name=""/>
        <dsp:cNvSpPr/>
      </dsp:nvSpPr>
      <dsp:spPr>
        <a:xfrm>
          <a:off x="3287199" y="1839063"/>
          <a:ext cx="2910895" cy="96797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052" tIns="82979" rIns="79052" bIns="8297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rial" panose="020B0604020202020204" pitchFamily="34" charset="0"/>
              <a:ea typeface="Lato"/>
              <a:cs typeface="Arial" panose="020B0604020202020204" pitchFamily="34" charset="0"/>
            </a:rPr>
            <a:t>GITBUH (Rede social dos e simpatizantes de IT)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287199" y="1839063"/>
        <a:ext cx="2910895" cy="967970"/>
      </dsp:txXfrm>
    </dsp:sp>
    <dsp:sp modelId="{613B2B43-66E8-45BF-9683-A27F03F6FFA9}">
      <dsp:nvSpPr>
        <dsp:cNvPr id="0" name=""/>
        <dsp:cNvSpPr/>
      </dsp:nvSpPr>
      <dsp:spPr>
        <a:xfrm>
          <a:off x="2914344" y="3616354"/>
          <a:ext cx="3404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0455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75295" y="3660217"/>
        <a:ext cx="18552" cy="3714"/>
      </dsp:txXfrm>
    </dsp:sp>
    <dsp:sp modelId="{00AE7FCA-E99F-4E80-90A8-6FDCF7F08112}">
      <dsp:nvSpPr>
        <dsp:cNvPr id="0" name=""/>
        <dsp:cNvSpPr/>
      </dsp:nvSpPr>
      <dsp:spPr>
        <a:xfrm>
          <a:off x="5249" y="3178089"/>
          <a:ext cx="2910895" cy="96797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052" tIns="82979" rIns="79052" bIns="8297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i="0" kern="1200" dirty="0">
              <a:latin typeface="Arial" panose="020B0604020202020204" pitchFamily="34" charset="0"/>
              <a:cs typeface="Arial" panose="020B0604020202020204" pitchFamily="34" charset="0"/>
            </a:rPr>
            <a:t>Elementos básicos (</a:t>
          </a:r>
          <a:r>
            <a:rPr lang="pt-BR" sz="1800" b="1" i="0" kern="1200" dirty="0" err="1">
              <a:latin typeface="Arial" panose="020B0604020202020204" pitchFamily="34" charset="0"/>
              <a:cs typeface="Arial" panose="020B0604020202020204" pitchFamily="34" charset="0"/>
            </a:rPr>
            <a:t>Tags</a:t>
          </a:r>
          <a:r>
            <a:rPr lang="pt-BR" sz="1800" b="1" i="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ea typeface="Lato"/>
            <a:cs typeface="Arial" panose="020B0604020202020204" pitchFamily="34" charset="0"/>
          </a:endParaRPr>
        </a:p>
      </dsp:txBody>
      <dsp:txXfrm>
        <a:off x="5249" y="3178089"/>
        <a:ext cx="2910895" cy="967970"/>
      </dsp:txXfrm>
    </dsp:sp>
    <dsp:sp modelId="{E062ED12-E03D-4A34-8C34-08BE8D7C0A96}">
      <dsp:nvSpPr>
        <dsp:cNvPr id="0" name=""/>
        <dsp:cNvSpPr/>
      </dsp:nvSpPr>
      <dsp:spPr>
        <a:xfrm>
          <a:off x="4898683" y="3616354"/>
          <a:ext cx="34045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0455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500" kern="1200"/>
        </a:p>
      </dsp:txBody>
      <dsp:txXfrm>
        <a:off x="5059634" y="3660217"/>
        <a:ext cx="18552" cy="3714"/>
      </dsp:txXfrm>
    </dsp:sp>
    <dsp:sp modelId="{2176E804-0FB7-4A6A-B318-F3EAC1A941CF}">
      <dsp:nvSpPr>
        <dsp:cNvPr id="0" name=""/>
        <dsp:cNvSpPr/>
      </dsp:nvSpPr>
      <dsp:spPr>
        <a:xfrm>
          <a:off x="3287199" y="3178089"/>
          <a:ext cx="1613283" cy="96797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052" tIns="82979" rIns="79052" bIns="8297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bg1"/>
              </a:solidFill>
              <a:latin typeface="Arial" panose="020B0604020202020204" pitchFamily="34" charset="0"/>
              <a:ea typeface="Lato"/>
              <a:cs typeface="Arial" panose="020B0604020202020204" pitchFamily="34" charset="0"/>
            </a:rPr>
            <a:t>Atributos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ea typeface="Lato"/>
            <a:cs typeface="Arial" panose="020B0604020202020204" pitchFamily="34" charset="0"/>
          </a:endParaRPr>
        </a:p>
      </dsp:txBody>
      <dsp:txXfrm>
        <a:off x="3287199" y="3178089"/>
        <a:ext cx="1613283" cy="967970"/>
      </dsp:txXfrm>
    </dsp:sp>
    <dsp:sp modelId="{935A1FCA-C770-46FE-9503-910666FC6948}">
      <dsp:nvSpPr>
        <dsp:cNvPr id="0" name=""/>
        <dsp:cNvSpPr/>
      </dsp:nvSpPr>
      <dsp:spPr>
        <a:xfrm>
          <a:off x="5271538" y="3178089"/>
          <a:ext cx="1613283" cy="96797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9052" tIns="82979" rIns="79052" bIns="82979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chemeClr val="bg1"/>
              </a:solidFill>
              <a:latin typeface="Arial" panose="020B0604020202020204" pitchFamily="34" charset="0"/>
              <a:ea typeface="Lato"/>
              <a:cs typeface="Arial" panose="020B0604020202020204" pitchFamily="34" charset="0"/>
            </a:rPr>
            <a:t>Propriedades</a:t>
          </a:r>
          <a:endParaRPr lang="en-US" sz="1800" kern="1200" dirty="0">
            <a:solidFill>
              <a:schemeClr val="bg1"/>
            </a:solidFill>
            <a:latin typeface="Arial" panose="020B0604020202020204" pitchFamily="34" charset="0"/>
            <a:ea typeface="Lato"/>
            <a:cs typeface="Arial" panose="020B0604020202020204" pitchFamily="34" charset="0"/>
          </a:endParaRPr>
        </a:p>
      </dsp:txBody>
      <dsp:txXfrm>
        <a:off x="5271538" y="3178089"/>
        <a:ext cx="1613283" cy="9679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3387E9-419A-06A6-D121-23559C39D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49747C-3380-F4DC-68F2-639346A15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448762-F4A7-C409-FCD5-2FAC8560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09/03/2026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1D0E86-2F7A-A2FD-8C04-7CE2DED3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DA1402-6256-4820-959E-71884C330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37956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1C7AC-4BCE-943F-A610-59E6AFA37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1253B7-E058-9E34-72F9-6885D9E02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4C1F07-6A09-4642-0EC7-CC20BB073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09/03/2026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5A3D97-B61F-1B2A-90EA-50ACEF55A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25A2AB-7E35-E853-7795-0480C3683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4111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0B84A-1902-AF82-EAE4-3D8386D88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20F161-F31F-83BC-CF95-FE63B90B4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1B441C-03AB-AF1F-F94B-B34A48A14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09/03/2026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96C135-F2CF-3EA9-06B0-273897D32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DE9E28-02B7-9BBF-53E4-9B950E697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48287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AD8D5-941E-3735-7105-ACD48CE8F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1F3791-29C8-9A52-785D-835594EFF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AF048E-4EC6-2208-AFCF-B5916BE0B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23C85C-C98B-7ED8-AD76-D5EA518AB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09/03/2026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27D74A-DBCB-911E-379D-215C4FD9A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D94614-AFA9-BF03-7375-5E38A5E5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3842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076BE-B47E-21D7-BC8A-E5B28653D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C588DD-8066-A3A0-8092-01A1F5554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711368-B50E-E977-4E8B-F96ED9B3C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1CEBE1F-7723-7FE0-E4D9-0A4CB3C08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D30060D-EBDC-AC80-1B6C-2522A0256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F8E757A-389D-B0FA-D4FE-B254D8268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09/03/2026</a:t>
            </a:fld>
            <a:endParaRPr lang="pt-PT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342129A-9021-1978-2554-7ACDDC076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45631CB-D7A0-2D82-13B1-E0C50A5FB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83277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BD9AD-88C1-0EF5-7F19-E94892C8C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676F3F6-C2BB-1766-9A99-B0189CFE9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09/03/2026</a:t>
            </a:fld>
            <a:endParaRPr lang="pt-PT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9EE7241-4ADB-F63C-9995-522E4815D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3D12F35-D57A-6000-CDDE-9A735A5EF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06291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F950C67-959A-8A5F-7DCB-56D9960D7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09/03/2026</a:t>
            </a:fld>
            <a:endParaRPr lang="pt-PT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57087AC-12C0-2FDD-EA7E-6FB5CE1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3CE5EA6-D56A-CD45-7187-EC3F58425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88915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8A93E-68B9-121F-7BF8-902F87AC6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8A92E6-9316-6461-8DF7-BD69EB0E6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F2A69F-EAC1-C446-13EC-97BE36F2B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C91EC0-6037-6711-231C-D7FFB4C88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09/03/2026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58BE12-07E2-73DC-2CE3-D65539350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595775-A4B8-CAD1-F3AA-A5C4FDF84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638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46CFC-9370-D18C-A3CE-E6993520A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1014BF4-8DD4-5CC9-1C94-8C25CEC9B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E46867-B94D-F5FA-FD59-0D35B10E6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A6C717-A38B-192D-D07F-460C05E14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09/03/2026</a:t>
            </a:fld>
            <a:endParaRPr lang="pt-PT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3CCC16-F979-B298-989F-AFC64F585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E1D476-55F6-81F3-6ABA-153B5ED14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90665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8ADDE-9A65-66F0-5B26-2A62CCBF5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8EBF9E6-16AD-382A-863F-E499E50D8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E7F1B9-39DF-DA26-87EB-BCC222ACD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09/03/2026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00AF79-A626-EF7D-3F71-E6BF92647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A432A-9C40-E89E-BABE-4753656D8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84213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D04E79-25C3-8DBD-DE3A-4ED36C6B09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7F4984-588D-669B-F61E-C4DDDC0D3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AD4610-52A8-35AD-13BE-5D0882ACB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9C63-9046-4117-B534-4056DCCB9CC7}" type="datetimeFigureOut">
              <a:rPr lang="pt-PT" smtClean="0"/>
              <a:t>09/03/2026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34677-AF4A-FDEA-D200-BDE03B9CB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4DBB88-CC08-4EF0-53EE-3067B85D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53827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1438BDA-7033-3060-2E36-09208D52D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A4C926-9C7D-F178-DF1C-8EF0497AB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A3DE3D-C4EA-B413-17B0-93EE99A4D8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E59C63-9046-4117-B534-4056DCCB9CC7}" type="datetimeFigureOut">
              <a:rPr lang="pt-PT" smtClean="0"/>
              <a:t>09/03/2026</a:t>
            </a:fld>
            <a:endParaRPr lang="pt-PT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DF8847-AC78-A52A-8431-FCAEB17C5A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2B0DF1-1680-56A7-7C1D-7E19A5162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AFA15-B6B9-47F1-A7D6-05FD26236DD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8699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gi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51DCE96-7E3F-0D25-5103-323E63D95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"/>
            <a:ext cx="12192000" cy="109728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017D505-5E0D-7840-D8CD-0F8095E91084}"/>
              </a:ext>
            </a:extLst>
          </p:cNvPr>
          <p:cNvSpPr txBox="1"/>
          <p:nvPr/>
        </p:nvSpPr>
        <p:spPr>
          <a:xfrm>
            <a:off x="128580" y="1260097"/>
            <a:ext cx="7978190" cy="463774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 rtl="0" fontAlgn="base">
              <a:lnSpc>
                <a:spcPct val="150000"/>
              </a:lnSpc>
            </a:pPr>
            <a:r>
              <a:rPr lang="en-US" sz="25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Semestre</a:t>
            </a:r>
            <a:r>
              <a:rPr lang="en-US" sz="2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2026.1</a:t>
            </a:r>
            <a:endParaRPr lang="en-US" sz="25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n-US" sz="25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Disciplina</a:t>
            </a:r>
            <a:r>
              <a:rPr lang="en-US" sz="2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5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  <a:p>
            <a:pPr>
              <a:lnSpc>
                <a:spcPct val="150000"/>
              </a:lnSpc>
            </a:pPr>
            <a:r>
              <a:rPr lang="pt-BR" sz="2500" b="1" dirty="0">
                <a:latin typeface="Arial" panose="020B0604020202020204" pitchFamily="34" charset="0"/>
                <a:cs typeface="Arial" panose="020B0604020202020204" pitchFamily="34" charset="0"/>
              </a:rPr>
              <a:t>ARA0062 DESENV. WEB EM HTML5, CSS, JAVASCRIPT E PHP</a:t>
            </a:r>
            <a:endParaRPr lang="en-US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150000"/>
              </a:lnSpc>
            </a:pPr>
            <a:endParaRPr lang="en-US" sz="2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Prof. </a:t>
            </a:r>
            <a:r>
              <a:rPr lang="en-US" sz="25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Juvenaldo</a:t>
            </a:r>
            <a:r>
              <a:rPr lang="en-US" sz="2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Florentino</a:t>
            </a:r>
            <a:r>
              <a:rPr lang="en-US" sz="25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>
              <a:lnSpc>
                <a:spcPct val="1500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Aula 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sz="25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 fontAlgn="base">
              <a:lnSpc>
                <a:spcPct val="150000"/>
              </a:lnSpc>
            </a:pPr>
            <a:r>
              <a:rPr lang="en-US" sz="2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Fortaleza, CE: 09 de </a:t>
            </a:r>
            <a:r>
              <a:rPr lang="en-US" sz="25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março</a:t>
            </a:r>
            <a:r>
              <a:rPr lang="en-US" sz="2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2026</a:t>
            </a:r>
            <a:endParaRPr lang="en-US" sz="25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Big Data Solutions | Sardonyx Technologies">
            <a:extLst>
              <a:ext uri="{FF2B5EF4-FFF2-40B4-BE49-F238E27FC236}">
                <a16:creationId xmlns:a16="http://schemas.microsoft.com/office/drawing/2014/main" id="{24C3781F-4226-A0BA-1ED1-FD007EE1F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283" y="3330054"/>
            <a:ext cx="3430137" cy="3002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Develop your custom web app in html,css,javascript,json,react js,php and  mysql">
            <a:extLst>
              <a:ext uri="{FF2B5EF4-FFF2-40B4-BE49-F238E27FC236}">
                <a16:creationId xmlns:a16="http://schemas.microsoft.com/office/drawing/2014/main" id="{0A33D3BD-27A7-F5E6-32D1-26BBE1DEC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710" y="1097278"/>
            <a:ext cx="32385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2114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aixaDeTexto 3">
            <a:extLst>
              <a:ext uri="{FF2B5EF4-FFF2-40B4-BE49-F238E27FC236}">
                <a16:creationId xmlns:a16="http://schemas.microsoft.com/office/drawing/2014/main" id="{B49315BC-50F5-DE56-4938-0B8D1BF064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9754491"/>
              </p:ext>
            </p:extLst>
          </p:nvPr>
        </p:nvGraphicFramePr>
        <p:xfrm>
          <a:off x="145211" y="2030040"/>
          <a:ext cx="6890071" cy="46460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20" name="Imagem 819" descr="vr STICKER - Find &amp; Share on GIPHY">
            <a:extLst>
              <a:ext uri="{FF2B5EF4-FFF2-40B4-BE49-F238E27FC236}">
                <a16:creationId xmlns:a16="http://schemas.microsoft.com/office/drawing/2014/main" id="{6A40147E-3DFB-4827-5CCB-873A121280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7061" y="2590477"/>
            <a:ext cx="3394972" cy="3122281"/>
          </a:xfrm>
          <a:prstGeom prst="rect">
            <a:avLst/>
          </a:prstGeom>
        </p:spPr>
      </p:pic>
      <p:sp>
        <p:nvSpPr>
          <p:cNvPr id="2" name="AutoShape 4" descr="Fluxogramas | Raul Oliveira | DIO">
            <a:extLst>
              <a:ext uri="{FF2B5EF4-FFF2-40B4-BE49-F238E27FC236}">
                <a16:creationId xmlns:a16="http://schemas.microsoft.com/office/drawing/2014/main" id="{4575EBD0-93C2-2BB6-91B1-C2053887F5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3B9C3DC-8A4C-86BA-55F3-410EC0972A34}"/>
              </a:ext>
            </a:extLst>
          </p:cNvPr>
          <p:cNvSpPr txBox="1"/>
          <p:nvPr/>
        </p:nvSpPr>
        <p:spPr>
          <a:xfrm>
            <a:off x="74645" y="146305"/>
            <a:ext cx="117659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latin typeface="Arial" panose="020B0604020202020204" pitchFamily="34" charset="0"/>
                <a:cs typeface="Arial" panose="020B0604020202020204" pitchFamily="34" charset="0"/>
              </a:rPr>
              <a:t>ANTES DE TUDO, TOME NOTA: COMENTÁRIOS...., O QUE SÃO</a:t>
            </a:r>
            <a:endParaRPr lang="pt-PT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 descr="vr STICKER - Find &amp; Share on GIPHY">
            <a:extLst>
              <a:ext uri="{FF2B5EF4-FFF2-40B4-BE49-F238E27FC236}">
                <a16:creationId xmlns:a16="http://schemas.microsoft.com/office/drawing/2014/main" id="{D5127A35-39FA-51F6-BBB8-78B2422A7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988" y="720959"/>
            <a:ext cx="1483973" cy="136477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BCBAB80-BB17-B3EB-161F-FC2D76D0AFC7}"/>
              </a:ext>
            </a:extLst>
          </p:cNvPr>
          <p:cNvSpPr txBox="1"/>
          <p:nvPr/>
        </p:nvSpPr>
        <p:spPr>
          <a:xfrm>
            <a:off x="391884" y="1997860"/>
            <a:ext cx="10814179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São anotações no código-fonte, ignoradas por compiladores/interpretadores, usadas para explicar a lógica, documentar ou desativar temporariamente partes de um programa/código.</a:t>
            </a:r>
            <a:endParaRPr lang="pt-P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6C7CE9E-61DC-7FA2-F633-437EF26E8C24}"/>
              </a:ext>
            </a:extLst>
          </p:cNvPr>
          <p:cNvSpPr txBox="1"/>
          <p:nvPr/>
        </p:nvSpPr>
        <p:spPr>
          <a:xfrm>
            <a:off x="609600" y="3120641"/>
            <a:ext cx="10814179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Tipo de comentário em HTML</a:t>
            </a:r>
            <a:endParaRPr lang="pt-PT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26F1172-CD36-5DC0-081A-8D6CC9B2D055}"/>
              </a:ext>
            </a:extLst>
          </p:cNvPr>
          <p:cNvSpPr txBox="1"/>
          <p:nvPr/>
        </p:nvSpPr>
        <p:spPr>
          <a:xfrm>
            <a:off x="609599" y="3669693"/>
            <a:ext cx="10814179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Simples (única linha)</a:t>
            </a:r>
            <a:endParaRPr lang="pt-P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43CD92F-62C6-4EA9-618C-8AB60000067A}"/>
              </a:ext>
            </a:extLst>
          </p:cNvPr>
          <p:cNvSpPr txBox="1"/>
          <p:nvPr/>
        </p:nvSpPr>
        <p:spPr>
          <a:xfrm>
            <a:off x="688910" y="5044381"/>
            <a:ext cx="10814179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Multipla (várias linhas)</a:t>
            </a:r>
            <a:endParaRPr lang="pt-PT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B4B3EDC-D1AF-B7FF-D353-4B7991CA9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10" y="4277922"/>
            <a:ext cx="2744755" cy="739204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984D2FF-CECC-37A6-29DF-083735753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10" y="5561425"/>
            <a:ext cx="2744754" cy="112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5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AEA0B4C-D14B-A396-4A45-253543C0A746}"/>
              </a:ext>
            </a:extLst>
          </p:cNvPr>
          <p:cNvSpPr txBox="1"/>
          <p:nvPr/>
        </p:nvSpPr>
        <p:spPr>
          <a:xfrm>
            <a:off x="74645" y="146305"/>
            <a:ext cx="117659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latin typeface="Arial" panose="020B0604020202020204" pitchFamily="34" charset="0"/>
                <a:cs typeface="Arial" panose="020B0604020202020204" pitchFamily="34" charset="0"/>
              </a:rPr>
              <a:t>ANTES DE TUDO, TOME NOTA: TECLAS DE ATALHO</a:t>
            </a:r>
          </a:p>
          <a:p>
            <a:pPr algn="ctr"/>
            <a:r>
              <a:rPr lang="pt-BR" sz="3000" b="1" dirty="0">
                <a:latin typeface="Arial" panose="020B0604020202020204" pitchFamily="34" charset="0"/>
                <a:cs typeface="Arial" panose="020B0604020202020204" pitchFamily="34" charset="0"/>
              </a:rPr>
              <a:t>VS CODE</a:t>
            </a:r>
            <a:endParaRPr lang="pt-PT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BD915B2-EF52-534D-3B21-6E078C33902D}"/>
              </a:ext>
            </a:extLst>
          </p:cNvPr>
          <p:cNvSpPr txBox="1"/>
          <p:nvPr/>
        </p:nvSpPr>
        <p:spPr>
          <a:xfrm>
            <a:off x="4934728" y="1574155"/>
            <a:ext cx="2045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highlight>
                  <a:srgbClr val="FFFF00"/>
                </a:highlight>
              </a:rPr>
              <a:t>Atalhos úteis:</a:t>
            </a:r>
            <a:endParaRPr lang="pt-PT" b="1" dirty="0">
              <a:highlight>
                <a:srgbClr val="FFFF00"/>
              </a:highlight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B4A8622-F620-A2E8-DF50-3D714C2B4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02" y="2183022"/>
            <a:ext cx="5654530" cy="24919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FAA0DB3-36F2-E8EC-BCDB-2B66B0C0C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869" y="2183022"/>
            <a:ext cx="5483677" cy="24919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5728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55B8FAB-7837-F4F2-4630-A105BAA1C171}"/>
              </a:ext>
            </a:extLst>
          </p:cNvPr>
          <p:cNvSpPr txBox="1"/>
          <p:nvPr/>
        </p:nvSpPr>
        <p:spPr>
          <a:xfrm>
            <a:off x="0" y="945879"/>
            <a:ext cx="5363570" cy="5615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t-BR" sz="22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HyperText</a:t>
            </a:r>
            <a:r>
              <a:rPr lang="pt-BR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 Markup </a:t>
            </a:r>
            <a:r>
              <a:rPr lang="pt-BR" sz="22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) é a linguagem de marcação padrão da Web.</a:t>
            </a:r>
          </a:p>
          <a:p>
            <a:pPr algn="just">
              <a:lnSpc>
                <a:spcPct val="150000"/>
              </a:lnSpc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Define a estrutura e conteúdo das páginas.</a:t>
            </a:r>
          </a:p>
          <a:p>
            <a:pPr algn="just">
              <a:lnSpc>
                <a:spcPct val="150000"/>
              </a:lnSpc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É interpretada pelo navegador.</a:t>
            </a:r>
          </a:p>
          <a:p>
            <a:pPr algn="just">
              <a:lnSpc>
                <a:spcPct val="150000"/>
              </a:lnSpc>
            </a:pP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pt-BR" sz="2200" b="1" dirty="0">
                <a:latin typeface="Arial" panose="020B0604020202020204" pitchFamily="34" charset="0"/>
                <a:cs typeface="Arial" panose="020B0604020202020204" pitchFamily="34" charset="0"/>
              </a:rPr>
              <a:t>propósito 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foi </a:t>
            </a:r>
            <a:r>
              <a:rPr lang="pt-BR" sz="2200" b="1" dirty="0">
                <a:latin typeface="Arial" panose="020B0604020202020204" pitchFamily="34" charset="0"/>
                <a:cs typeface="Arial" panose="020B0604020202020204" pitchFamily="34" charset="0"/>
              </a:rPr>
              <a:t>facilitar o compartilhamento e a organização de informações pela internet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, de forma que cientistas e pesquisadores pudessem acessar documentos de qualquer lugar do mundo.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76512F1-F299-D1C0-9EC0-270065E5D24F}"/>
              </a:ext>
            </a:extLst>
          </p:cNvPr>
          <p:cNvSpPr txBox="1"/>
          <p:nvPr/>
        </p:nvSpPr>
        <p:spPr>
          <a:xfrm>
            <a:off x="109182" y="422659"/>
            <a:ext cx="4189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 que é HTML?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747AEF1-7840-840B-6BAF-E72324FF5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9215" y="128246"/>
            <a:ext cx="3062785" cy="3062785"/>
          </a:xfrm>
          <a:prstGeom prst="rect">
            <a:avLst/>
          </a:prstGeom>
        </p:spPr>
      </p:pic>
      <p:pic>
        <p:nvPicPr>
          <p:cNvPr id="1026" name="Picture 2" descr="Basic HTML Structure - aptLearn">
            <a:extLst>
              <a:ext uri="{FF2B5EF4-FFF2-40B4-BE49-F238E27FC236}">
                <a16:creationId xmlns:a16="http://schemas.microsoft.com/office/drawing/2014/main" id="{6CB51702-245B-4E35-9D59-A9DE407B7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286" y="3429000"/>
            <a:ext cx="4608392" cy="330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660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Básica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310" y="1921160"/>
            <a:ext cx="5137886" cy="1809534"/>
          </a:xfr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 algn="just">
              <a:lnSpc>
                <a:spcPct val="150000"/>
              </a:lnSpc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Doctype → </a:t>
            </a: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versão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algn="just">
              <a:lnSpc>
                <a:spcPct val="150000"/>
              </a:lnSpc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Head → </a:t>
            </a: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informações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documento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algn="just">
              <a:lnSpc>
                <a:spcPct val="150000"/>
              </a:lnSpc>
            </a:pP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Body → </a:t>
            </a: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conteúdo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200" dirty="0" err="1">
                <a:latin typeface="Arial" panose="020B0604020202020204" pitchFamily="34" charset="0"/>
                <a:cs typeface="Arial" panose="020B0604020202020204" pitchFamily="34" charset="0"/>
              </a:rPr>
              <a:t>visível</a:t>
            </a:r>
            <a:r>
              <a:rPr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F0A014-5FAB-9796-F389-39B4362A1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750" y="1245712"/>
            <a:ext cx="6992658" cy="4131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874900C-745F-D4F8-8624-9CEE5028B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11" y="2308603"/>
            <a:ext cx="11610903" cy="2230343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8E79AE0-36EA-CDA4-E39A-18495DD370B6}"/>
              </a:ext>
            </a:extLst>
          </p:cNvPr>
          <p:cNvSpPr/>
          <p:nvPr/>
        </p:nvSpPr>
        <p:spPr>
          <a:xfrm>
            <a:off x="114367" y="2308603"/>
            <a:ext cx="2656128" cy="5028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2645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E64127F-C3C6-F9AB-38A1-85EEAE7EA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4" y="397891"/>
            <a:ext cx="11546299" cy="2470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68713E5-6A0B-2772-B7A7-6C8D857E8CCB}"/>
              </a:ext>
            </a:extLst>
          </p:cNvPr>
          <p:cNvSpPr txBox="1"/>
          <p:nvPr/>
        </p:nvSpPr>
        <p:spPr>
          <a:xfrm>
            <a:off x="696037" y="3892440"/>
            <a:ext cx="508825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dirty="0">
                <a:latin typeface="Arial" panose="020B0604020202020204" pitchFamily="34" charset="0"/>
                <a:cs typeface="Arial" panose="020B0604020202020204" pitchFamily="34" charset="0"/>
              </a:rPr>
              <a:t>Se for em português, como ficaria </a:t>
            </a:r>
          </a:p>
        </p:txBody>
      </p:sp>
      <p:sp>
        <p:nvSpPr>
          <p:cNvPr id="5" name="Seta: Curva para a Direita 4">
            <a:extLst>
              <a:ext uri="{FF2B5EF4-FFF2-40B4-BE49-F238E27FC236}">
                <a16:creationId xmlns:a16="http://schemas.microsoft.com/office/drawing/2014/main" id="{4BE19379-E9AD-4886-0A6D-E4B6CA7E0F67}"/>
              </a:ext>
            </a:extLst>
          </p:cNvPr>
          <p:cNvSpPr/>
          <p:nvPr/>
        </p:nvSpPr>
        <p:spPr>
          <a:xfrm>
            <a:off x="3090037" y="2452292"/>
            <a:ext cx="600502" cy="1678675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6" name="Imagem 5" descr="vr STICKER - Find &amp; Share on GIPHY">
            <a:extLst>
              <a:ext uri="{FF2B5EF4-FFF2-40B4-BE49-F238E27FC236}">
                <a16:creationId xmlns:a16="http://schemas.microsoft.com/office/drawing/2014/main" id="{78D5AB60-96EB-FE10-C4C7-5FEB65BE1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13" y="3004717"/>
            <a:ext cx="1483973" cy="136477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0EEA7A7-A838-B576-FE0B-37FA3B86C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87" y="4585708"/>
            <a:ext cx="6373503" cy="2047104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A8A98CF-D318-B081-75BC-F2BC74431444}"/>
              </a:ext>
            </a:extLst>
          </p:cNvPr>
          <p:cNvSpPr txBox="1"/>
          <p:nvPr/>
        </p:nvSpPr>
        <p:spPr>
          <a:xfrm>
            <a:off x="334311" y="845740"/>
            <a:ext cx="1483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 err="1"/>
              <a:t>Tag</a:t>
            </a:r>
            <a:r>
              <a:rPr lang="pt-BR" b="1" dirty="0"/>
              <a:t> raiz</a:t>
            </a:r>
          </a:p>
        </p:txBody>
      </p:sp>
    </p:spTree>
    <p:extLst>
      <p:ext uri="{BB962C8B-B14F-4D97-AF65-F5344CB8AC3E}">
        <p14:creationId xmlns:p14="http://schemas.microsoft.com/office/powerpoint/2010/main" val="2006008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31067E-913A-DC0B-1D77-32837EC4E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6" y="426920"/>
            <a:ext cx="11948188" cy="198873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03191E5-8298-2C5F-95AD-F2433EBBF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84" y="3034423"/>
            <a:ext cx="7120293" cy="330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437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B00CADB-0885-4716-B8E8-7469A338E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86" y="2029109"/>
            <a:ext cx="11519228" cy="240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00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2C10F2C-8F90-D6D7-6FFF-400764CBC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0" y="1798376"/>
            <a:ext cx="12069170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340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546BF38-DE5B-E091-8F0C-AD61847973E8}"/>
              </a:ext>
            </a:extLst>
          </p:cNvPr>
          <p:cNvSpPr txBox="1"/>
          <p:nvPr/>
        </p:nvSpPr>
        <p:spPr>
          <a:xfrm>
            <a:off x="78567" y="1186647"/>
            <a:ext cx="10446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Um elemento HTML é definido por uma </a:t>
            </a:r>
            <a:r>
              <a:rPr lang="pt-BR" b="1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tag</a:t>
            </a:r>
            <a:r>
              <a:rPr lang="pt-BR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de abertura, algum conteúdo e uma </a:t>
            </a:r>
            <a:r>
              <a:rPr lang="pt-BR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tag</a:t>
            </a:r>
            <a:r>
              <a:rPr lang="pt-BR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de fechamento.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4FB1BA-AE48-17C2-A042-32CAADFED0BC}"/>
              </a:ext>
            </a:extLst>
          </p:cNvPr>
          <p:cNvSpPr txBox="1"/>
          <p:nvPr/>
        </p:nvSpPr>
        <p:spPr>
          <a:xfrm>
            <a:off x="78567" y="186613"/>
            <a:ext cx="4045563" cy="71293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Elmento</a:t>
            </a: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 HTML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1D71339-BCC5-32D2-6C1F-4CC5F0A65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76" y="2593571"/>
            <a:ext cx="10839248" cy="7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909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19334DB-EC8F-4050-9C6E-F92B6A72D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4" name="Color Cover">
              <a:extLst>
                <a:ext uri="{FF2B5EF4-FFF2-40B4-BE49-F238E27FC236}">
                  <a16:creationId xmlns:a16="http://schemas.microsoft.com/office/drawing/2014/main" id="{EA01B1DD-00B6-4407-827C-3F408B773B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 Cover">
              <a:extLst>
                <a:ext uri="{FF2B5EF4-FFF2-40B4-BE49-F238E27FC236}">
                  <a16:creationId xmlns:a16="http://schemas.microsoft.com/office/drawing/2014/main" id="{AF1D500A-77DB-437E-A54D-45B239D6D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87BA2A-0B66-4DEF-A04F-2CC172257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8" name="Color">
              <a:extLst>
                <a:ext uri="{FF2B5EF4-FFF2-40B4-BE49-F238E27FC236}">
                  <a16:creationId xmlns:a16="http://schemas.microsoft.com/office/drawing/2014/main" id="{522B2F8C-7861-41DA-AB7F-C621655E4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Color">
              <a:extLst>
                <a:ext uri="{FF2B5EF4-FFF2-40B4-BE49-F238E27FC236}">
                  <a16:creationId xmlns:a16="http://schemas.microsoft.com/office/drawing/2014/main" id="{90AE996F-5C1A-4DD0-B66D-9C837744AA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Imagem 4">
            <a:extLst>
              <a:ext uri="{FF2B5EF4-FFF2-40B4-BE49-F238E27FC236}">
                <a16:creationId xmlns:a16="http://schemas.microsoft.com/office/drawing/2014/main" id="{ED90AD2E-983E-0085-E306-8E0FD527F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267" y="4007528"/>
            <a:ext cx="5463390" cy="154825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5EA0A2B-02C5-AD81-C3D4-EE23CBAC0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967" y="1684604"/>
            <a:ext cx="6769690" cy="96367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52" cy="6858000"/>
            <a:chOff x="0" y="0"/>
            <a:chExt cx="12188952" cy="68580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693C8258-9EB6-7DCA-5B34-F642F36D7D10}"/>
              </a:ext>
            </a:extLst>
          </p:cNvPr>
          <p:cNvSpPr txBox="1"/>
          <p:nvPr/>
        </p:nvSpPr>
        <p:spPr>
          <a:xfrm>
            <a:off x="759703" y="-834259"/>
            <a:ext cx="5203990" cy="23496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O </a:t>
            </a: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que</a:t>
            </a: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 </a:t>
            </a: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são</a:t>
            </a: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 tags</a:t>
            </a:r>
          </a:p>
        </p:txBody>
      </p:sp>
      <p:pic>
        <p:nvPicPr>
          <p:cNvPr id="4" name="Imagem 3" descr="vr STICKER - Find &amp; Share on GIPHY">
            <a:extLst>
              <a:ext uri="{FF2B5EF4-FFF2-40B4-BE49-F238E27FC236}">
                <a16:creationId xmlns:a16="http://schemas.microsoft.com/office/drawing/2014/main" id="{9ADB2F10-5467-954C-9AE2-806C26CD5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350" y="8788"/>
            <a:ext cx="915056" cy="84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14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6A244A3-8D4A-177C-32ED-26A271C38D3F}"/>
              </a:ext>
            </a:extLst>
          </p:cNvPr>
          <p:cNvSpPr txBox="1"/>
          <p:nvPr/>
        </p:nvSpPr>
        <p:spPr>
          <a:xfrm>
            <a:off x="0" y="149704"/>
            <a:ext cx="26033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2800" b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Tipos de </a:t>
            </a:r>
            <a:r>
              <a:rPr lang="pt-BR" dirty="0" err="1"/>
              <a:t>tags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53DF241-BC82-45C5-79EB-D01C81296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88" y="1158882"/>
            <a:ext cx="11375290" cy="187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806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5EA9705-5667-C336-171F-DCD44D20C887}"/>
              </a:ext>
            </a:extLst>
          </p:cNvPr>
          <p:cNvSpPr txBox="1"/>
          <p:nvPr/>
        </p:nvSpPr>
        <p:spPr>
          <a:xfrm>
            <a:off x="116006" y="245238"/>
            <a:ext cx="22314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2800" b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Atributos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63DDAF-C1C2-77A8-ECAA-8AD6D43616A3}"/>
              </a:ext>
            </a:extLst>
          </p:cNvPr>
          <p:cNvSpPr txBox="1"/>
          <p:nvPr/>
        </p:nvSpPr>
        <p:spPr>
          <a:xfrm>
            <a:off x="2081283" y="245238"/>
            <a:ext cx="949201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são propriedades extras das </a:t>
            </a:r>
            <a:r>
              <a:rPr lang="pt-BR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tags</a:t>
            </a:r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 que modificam seu comportamento.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39FC40-FAB8-220E-ED79-898A90CB6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06" y="1345801"/>
            <a:ext cx="11258794" cy="312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190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F66C4-1683-5FBF-77FD-DC06C2C6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3210CDD-87F1-3863-6403-B08172F22DBB}"/>
              </a:ext>
            </a:extLst>
          </p:cNvPr>
          <p:cNvSpPr txBox="1"/>
          <p:nvPr/>
        </p:nvSpPr>
        <p:spPr>
          <a:xfrm>
            <a:off x="78567" y="1186647"/>
            <a:ext cx="10446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Um elemento HTML é definido por uma </a:t>
            </a:r>
            <a:r>
              <a:rPr lang="pt-BR" b="1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tag</a:t>
            </a:r>
            <a:r>
              <a:rPr lang="pt-BR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de abertura, algum conteúdo e uma </a:t>
            </a:r>
            <a:r>
              <a:rPr lang="pt-BR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tag</a:t>
            </a:r>
            <a:r>
              <a:rPr lang="pt-BR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de fechamento.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B4242C2-30D4-788D-49C4-EC634085CA72}"/>
              </a:ext>
            </a:extLst>
          </p:cNvPr>
          <p:cNvSpPr txBox="1"/>
          <p:nvPr/>
        </p:nvSpPr>
        <p:spPr>
          <a:xfrm>
            <a:off x="78567" y="186613"/>
            <a:ext cx="4978625" cy="7129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Elementos</a:t>
            </a: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 HTML </a:t>
            </a: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aninhados</a:t>
            </a:r>
            <a:endParaRPr lang="en-US" sz="4800" b="1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+mj-lt"/>
              <a:ea typeface="+mj-ea"/>
              <a:cs typeface="+mj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2212A71-5077-E3EC-5676-24BE3814F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40" y="2107503"/>
            <a:ext cx="11524010" cy="169233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BA74863-DDE7-EFD3-8D23-AD63D7B30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514" y="3959775"/>
            <a:ext cx="3023965" cy="271840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3146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AEC1C76-004F-AA6B-30F7-22D5C2076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57" y="2006550"/>
            <a:ext cx="11160359" cy="241305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2F4F02D-11FF-15FA-8D02-8EC3C44BF674}"/>
              </a:ext>
            </a:extLst>
          </p:cNvPr>
          <p:cNvSpPr txBox="1"/>
          <p:nvPr/>
        </p:nvSpPr>
        <p:spPr>
          <a:xfrm>
            <a:off x="78567" y="186613"/>
            <a:ext cx="4045563" cy="71293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Elmento</a:t>
            </a: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 HTML</a:t>
            </a:r>
          </a:p>
        </p:txBody>
      </p:sp>
    </p:spTree>
    <p:extLst>
      <p:ext uri="{BB962C8B-B14F-4D97-AF65-F5344CB8AC3E}">
        <p14:creationId xmlns:p14="http://schemas.microsoft.com/office/powerpoint/2010/main" val="1129503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1556A86-E71A-6D18-32AD-27E9E1038D10}"/>
              </a:ext>
            </a:extLst>
          </p:cNvPr>
          <p:cNvSpPr txBox="1"/>
          <p:nvPr/>
        </p:nvSpPr>
        <p:spPr>
          <a:xfrm>
            <a:off x="78567" y="186613"/>
            <a:ext cx="4045563" cy="71293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Elmento</a:t>
            </a: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 HTML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B4B6D0-5349-9B36-FB05-E785185FE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48" y="899543"/>
            <a:ext cx="3722901" cy="2387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041288E-027E-9205-5BE7-06A712134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509" y="1441137"/>
            <a:ext cx="7497587" cy="13043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1853728-1A8F-D817-FB57-0759EA36BA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7" y="3761990"/>
            <a:ext cx="11784529" cy="71293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FCF5EF3-C0BA-2842-A990-012225E777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3840" y="4913570"/>
            <a:ext cx="6004559" cy="138867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06234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192F4D2-7A9F-435C-14E7-FD3DA73F4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05" y="1265967"/>
            <a:ext cx="11608785" cy="143058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39C296C-0043-08A2-E391-F2A43DDE203C}"/>
              </a:ext>
            </a:extLst>
          </p:cNvPr>
          <p:cNvSpPr txBox="1"/>
          <p:nvPr/>
        </p:nvSpPr>
        <p:spPr>
          <a:xfrm>
            <a:off x="78567" y="186613"/>
            <a:ext cx="4045563" cy="71293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Elmento</a:t>
            </a: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 HTML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9048CE2-2C4F-D249-9B2C-CB4E6AC99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248" y="2814244"/>
            <a:ext cx="3785952" cy="34947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05622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6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818045A-43F1-7FEC-9DE1-945942473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420281"/>
            <a:ext cx="10905066" cy="201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4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82A448-11A4-C018-DD40-766592DFB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478" y="1198838"/>
            <a:ext cx="7165074" cy="223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Preparação do ambiente</a:t>
            </a: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Abra um editor de textos (Bloco de Notas, Nano,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Notepad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++,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VS 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Code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Tenha um navegador à mão (Chrome, Firefox, Edge).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Criando a estrutura básica</a:t>
            </a: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Crie um novo arquivo e adicione as seguintes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tags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lang="pt-BR" altLang="pt-BR" sz="2200" dirty="0">
              <a:latin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9B9C253-BF8D-233D-3E4B-09BEDCBB4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722" y="731543"/>
            <a:ext cx="4767618" cy="281687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87FF8D7-7F76-A6C4-E282-846D781A41AD}"/>
              </a:ext>
            </a:extLst>
          </p:cNvPr>
          <p:cNvSpPr txBox="1"/>
          <p:nvPr/>
        </p:nvSpPr>
        <p:spPr>
          <a:xfrm>
            <a:off x="136478" y="180361"/>
            <a:ext cx="22314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2800" b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Desafio 01</a:t>
            </a:r>
          </a:p>
        </p:txBody>
      </p:sp>
    </p:spTree>
    <p:extLst>
      <p:ext uri="{BB962C8B-B14F-4D97-AF65-F5344CB8AC3E}">
        <p14:creationId xmlns:p14="http://schemas.microsoft.com/office/powerpoint/2010/main" val="212765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BCEF8D-94A6-C5E1-1DE7-5F919CE6A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21" y="731855"/>
            <a:ext cx="11053026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Salve o arquivo com a extensão .</a:t>
            </a:r>
            <a:r>
              <a:rPr kumimoji="0" lang="pt-BR" altLang="pt-BR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ou .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Adicionando conteúdo</a:t>
            </a:r>
            <a:b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Dentro da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&lt;body&gt;: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Insira um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título principal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 &lt;h1&gt; (por exemplo: “Bem-vindo à minha página”).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Adicione um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parágrafo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&lt;p&gt; com algum texto sobre você ou um tema de interesse.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Insira uma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linha horizontal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hr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 para separar seções.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Adicione um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subtítulo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&lt;h2&gt; (por exemplo: “Segunda Seção”).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Acrescente outro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parágrafo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&lt;p&gt; com mais informações ou curiosidades.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Visualize sua página</a:t>
            </a: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Salve o documento.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Abra o arquivo no navegador e veja como ficou a página.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Desafio extra (opcional)</a:t>
            </a:r>
            <a:endParaRPr kumimoji="0" lang="pt-BR" altLang="pt-BR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Experimente adicionar </a:t>
            </a:r>
            <a:r>
              <a:rPr kumimoji="0" lang="pt-BR" altLang="pt-BR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cores e estilos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simples usando atributos ou CSS </a:t>
            </a:r>
            <a:r>
              <a:rPr kumimoji="0" lang="pt-BR" altLang="pt-BR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inline</a:t>
            </a:r>
            <a:r>
              <a: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como: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AFB77BD-E487-55A6-54B6-4908BAF5F7E6}"/>
              </a:ext>
            </a:extLst>
          </p:cNvPr>
          <p:cNvSpPr txBox="1"/>
          <p:nvPr/>
        </p:nvSpPr>
        <p:spPr>
          <a:xfrm>
            <a:off x="136478" y="180361"/>
            <a:ext cx="22314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>
              <a:defRPr sz="2800" b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Desafio 01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475579-63D5-9CA6-759F-43812DBEC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44" y="5253667"/>
            <a:ext cx="7833460" cy="124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394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Títulos</a:t>
            </a:r>
            <a:r>
              <a:rPr dirty="0"/>
              <a:t> e </a:t>
            </a:r>
            <a:r>
              <a:rPr lang="pt-BR" dirty="0"/>
              <a:t>p</a:t>
            </a:r>
            <a:r>
              <a:rPr dirty="0" err="1"/>
              <a:t>arágrafos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&lt;h1&gt; a &lt;h6&gt; </a:t>
            </a:r>
            <a:r>
              <a:rPr dirty="0" err="1"/>
              <a:t>criam</a:t>
            </a:r>
            <a:r>
              <a:rPr dirty="0"/>
              <a:t> </a:t>
            </a:r>
            <a:r>
              <a:rPr dirty="0" err="1"/>
              <a:t>hierarquia</a:t>
            </a:r>
            <a:r>
              <a:rPr dirty="0"/>
              <a:t> de </a:t>
            </a:r>
            <a:r>
              <a:rPr dirty="0" err="1"/>
              <a:t>títulos</a:t>
            </a:r>
            <a:r>
              <a:rPr dirty="0"/>
              <a:t>.</a:t>
            </a:r>
          </a:p>
          <a:p>
            <a:r>
              <a:rPr dirty="0"/>
              <a:t>&lt;p&gt; define </a:t>
            </a:r>
            <a:r>
              <a:rPr dirty="0" err="1"/>
              <a:t>parágrafos</a:t>
            </a:r>
            <a:r>
              <a:rPr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A83284-0039-DC46-EE76-CB6776466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75" y="3484880"/>
            <a:ext cx="10281937" cy="93472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A107AEC-D439-8389-EF57-F936B6165013}"/>
              </a:ext>
            </a:extLst>
          </p:cNvPr>
          <p:cNvSpPr txBox="1"/>
          <p:nvPr/>
        </p:nvSpPr>
        <p:spPr>
          <a:xfrm>
            <a:off x="838200" y="4554537"/>
            <a:ext cx="6097554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pt-PT" b="1" dirty="0">
                <a:solidFill>
                  <a:srgbClr val="0F1115"/>
                </a:solidFill>
                <a:effectLst/>
                <a:latin typeface="quote-cjk-patch"/>
              </a:rPr>
              <a:t>Titulos secundarios (</a:t>
            </a:r>
            <a:r>
              <a:rPr lang="pt-PT" b="1" dirty="0">
                <a:solidFill>
                  <a:srgbClr val="0F1115"/>
                </a:solidFill>
                <a:latin typeface="quote-cjk-patch"/>
              </a:rPr>
              <a:t>h</a:t>
            </a:r>
            <a:r>
              <a:rPr lang="pt-PT" b="1" dirty="0">
                <a:solidFill>
                  <a:srgbClr val="0F1115"/>
                </a:solidFill>
                <a:effectLst/>
                <a:latin typeface="quote-cjk-patch"/>
              </a:rPr>
              <a:t>2</a:t>
            </a:r>
            <a:r>
              <a:rPr lang="pt-PT" b="1" dirty="0">
                <a:solidFill>
                  <a:srgbClr val="0F1115"/>
                </a:solidFill>
                <a:latin typeface="quote-cjk-patch"/>
              </a:rPr>
              <a:t>...,</a:t>
            </a:r>
            <a:r>
              <a:rPr lang="pt-PT" b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pt-PT" b="1" dirty="0">
                <a:solidFill>
                  <a:srgbClr val="0F1115"/>
                </a:solidFill>
                <a:latin typeface="quote-cjk-patch"/>
              </a:rPr>
              <a:t>h6</a:t>
            </a:r>
            <a:r>
              <a:rPr lang="pt-PT" b="1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9D76659-081C-AA44-65F7-00874BDBF2CC}"/>
              </a:ext>
            </a:extLst>
          </p:cNvPr>
          <p:cNvSpPr txBox="1"/>
          <p:nvPr/>
        </p:nvSpPr>
        <p:spPr>
          <a:xfrm>
            <a:off x="125221" y="83304"/>
            <a:ext cx="1321024" cy="5636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Tags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918B510-9364-A7D4-6563-09D19025D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765" y="4964341"/>
            <a:ext cx="4155536" cy="13942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C66B1-728E-DFC2-7ECB-BD1B73580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0670F65-BD98-4119-C700-CC952F769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70" y="1621163"/>
            <a:ext cx="10040815" cy="56660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2AC0217-AB01-E0B3-146D-EB9063296983}"/>
              </a:ext>
            </a:extLst>
          </p:cNvPr>
          <p:cNvSpPr txBox="1"/>
          <p:nvPr/>
        </p:nvSpPr>
        <p:spPr>
          <a:xfrm>
            <a:off x="125221" y="83304"/>
            <a:ext cx="1321024" cy="5636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Tags</a:t>
            </a:r>
          </a:p>
        </p:txBody>
      </p:sp>
    </p:spTree>
    <p:extLst>
      <p:ext uri="{BB962C8B-B14F-4D97-AF65-F5344CB8AC3E}">
        <p14:creationId xmlns:p14="http://schemas.microsoft.com/office/powerpoint/2010/main" val="2169870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3681437-2999-DD3C-A8BE-C3A94F1AE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31" y="2198358"/>
            <a:ext cx="8896513" cy="66676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C68328F-E391-9641-57A3-829F83F23077}"/>
              </a:ext>
            </a:extLst>
          </p:cNvPr>
          <p:cNvSpPr txBox="1"/>
          <p:nvPr/>
        </p:nvSpPr>
        <p:spPr>
          <a:xfrm>
            <a:off x="125221" y="83304"/>
            <a:ext cx="1321024" cy="56364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Tags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32B8A5D-33E2-34F4-2A73-361808C49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8" y="3518277"/>
            <a:ext cx="11010583" cy="66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302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F0C31A4-62CC-8C75-2563-0966D649DA18}"/>
              </a:ext>
            </a:extLst>
          </p:cNvPr>
          <p:cNvSpPr txBox="1"/>
          <p:nvPr/>
        </p:nvSpPr>
        <p:spPr>
          <a:xfrm>
            <a:off x="78567" y="186613"/>
            <a:ext cx="4045563" cy="71293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 err="1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+mj-lt"/>
                <a:ea typeface="+mj-ea"/>
                <a:cs typeface="+mj-cs"/>
              </a:rPr>
              <a:t>Atributos</a:t>
            </a:r>
            <a:endParaRPr lang="en-US" sz="4800" b="1" dirty="0">
              <a:solidFill>
                <a:schemeClr val="tx1">
                  <a:lumMod val="95000"/>
                  <a:lumOff val="5000"/>
                </a:schemeClr>
              </a:solidFill>
              <a:highlight>
                <a:srgbClr val="FFFF00"/>
              </a:highlight>
              <a:latin typeface="+mj-lt"/>
              <a:ea typeface="+mj-ea"/>
              <a:cs typeface="+mj-c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08C0BA-9F2D-F003-9E50-C60FA0FB7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040" y="294628"/>
            <a:ext cx="7458280" cy="47105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8392DF3-BB41-0E41-93F9-7E10F08D2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701" y="1083263"/>
            <a:ext cx="8494597" cy="16497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B57F6B9-43AE-D569-FC63-2916A3120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0375" y="2916760"/>
            <a:ext cx="8251249" cy="10743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79B28F5-7035-29B8-7413-611DCDE0BF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1348" y="4743202"/>
            <a:ext cx="8281501" cy="58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37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EB7CFC7D-5AEC-F6D9-CE30-C17180FC2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989" y="2609017"/>
            <a:ext cx="6319784" cy="57752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67AC0DC-CDFC-B155-F104-E37F9F509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68" y="1182383"/>
            <a:ext cx="12036032" cy="1103617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8B661436-D108-0CE7-B423-A5DCEF95C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65" y="4873407"/>
            <a:ext cx="6490602" cy="80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10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30497A1-8D6A-E459-6835-5FFA85103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24" y="2025527"/>
            <a:ext cx="11753551" cy="330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35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6ADA86F-B4BD-B378-B20F-CF4537C0C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45" y="1682711"/>
            <a:ext cx="11312496" cy="103000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97432A4-2977-9157-44E1-EC90D6DE4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623" y="3510747"/>
            <a:ext cx="8028754" cy="54432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365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2EC8ECC-01D5-594A-60C4-5BA4E6EFC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818" y="918266"/>
            <a:ext cx="9664846" cy="113561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EC30CAC-7743-7EC4-B8D0-E7E2657C1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000" y="2926068"/>
            <a:ext cx="7571915" cy="50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43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68CC6F2-3EA0-0210-179B-EBAE609C0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59" y="174484"/>
            <a:ext cx="7083801" cy="650903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746F3E0-7ED7-AB69-8C82-3CF6D8C94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852" y="321060"/>
            <a:ext cx="4281863" cy="62158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125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BB09101-3554-3539-562C-62AC99859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04055"/>
            <a:ext cx="11658600" cy="300208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9B499CD-0E38-8525-A107-9079A78D3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499" y="4519684"/>
            <a:ext cx="8037953" cy="6933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35DFB02-16D9-44EA-D252-1A0B35C3C057}"/>
              </a:ext>
            </a:extLst>
          </p:cNvPr>
          <p:cNvSpPr txBox="1"/>
          <p:nvPr/>
        </p:nvSpPr>
        <p:spPr>
          <a:xfrm>
            <a:off x="2460949" y="6354246"/>
            <a:ext cx="7774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A </a:t>
            </a:r>
            <a:r>
              <a:rPr lang="pt-BR" b="1" i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propriedade</a:t>
            </a:r>
            <a:r>
              <a:rPr lang="pt-BR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é uma propriedade CSS. O </a:t>
            </a:r>
            <a:r>
              <a:rPr lang="pt-BR" b="1" i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valor</a:t>
            </a:r>
            <a:r>
              <a:rPr lang="pt-BR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 é um valor CSS.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8104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25AD9DE-2C7F-A74B-CF38-B4FD3A7EC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51" y="1408923"/>
            <a:ext cx="10686340" cy="169222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1F310D4-77EC-324A-22AD-22684F539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51" y="308429"/>
            <a:ext cx="6561389" cy="58679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A11156D-F468-4FEF-8D3F-C4186428E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912" y="4528934"/>
            <a:ext cx="5212305" cy="18402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E2745CF-26C9-8B72-532B-667D690B9C36}"/>
              </a:ext>
            </a:extLst>
          </p:cNvPr>
          <p:cNvSpPr txBox="1"/>
          <p:nvPr/>
        </p:nvSpPr>
        <p:spPr>
          <a:xfrm>
            <a:off x="492191" y="375685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cor de fundo da página para azul-claro: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9151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D9486B0-8710-13E5-630A-F466B263E567}"/>
              </a:ext>
            </a:extLst>
          </p:cNvPr>
          <p:cNvSpPr txBox="1"/>
          <p:nvPr/>
        </p:nvSpPr>
        <p:spPr>
          <a:xfrm>
            <a:off x="268255" y="164879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Segoe UI" panose="020B0502040204020203" pitchFamily="34" charset="0"/>
              </a:rPr>
              <a:t>C</a:t>
            </a:r>
            <a:r>
              <a:rPr lang="pt-BR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or de fundo para dois elementos diferentes:</a:t>
            </a:r>
            <a:endParaRPr lang="pt-PT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555443C-0C0C-2471-FB46-184727927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" y="308429"/>
            <a:ext cx="6561389" cy="58679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FE2D532-528E-8213-039E-C9AAA78BC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782" y="2777433"/>
            <a:ext cx="8285931" cy="2062437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9029989-920C-9F75-2021-98FF18EFEFA8}"/>
              </a:ext>
            </a:extLst>
          </p:cNvPr>
          <p:cNvSpPr/>
          <p:nvPr/>
        </p:nvSpPr>
        <p:spPr>
          <a:xfrm>
            <a:off x="1476782" y="3401007"/>
            <a:ext cx="8032978" cy="939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7279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4F31031-2D8B-5A92-0CF1-B743048A6E36}"/>
              </a:ext>
            </a:extLst>
          </p:cNvPr>
          <p:cNvSpPr txBox="1"/>
          <p:nvPr/>
        </p:nvSpPr>
        <p:spPr>
          <a:xfrm>
            <a:off x="513184" y="1640928"/>
            <a:ext cx="7634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Segoe UI" panose="020B0502040204020203" pitchFamily="34" charset="0"/>
              </a:rPr>
              <a:t>P</a:t>
            </a:r>
            <a:r>
              <a:rPr lang="pt-BR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ropriedade </a:t>
            </a:r>
            <a:r>
              <a:rPr lang="pt-BR" b="1" i="0" dirty="0">
                <a:solidFill>
                  <a:srgbClr val="FF0000"/>
                </a:solidFill>
                <a:effectLst/>
                <a:latin typeface="Segoe UI" panose="020B0502040204020203" pitchFamily="34" charset="0"/>
              </a:rPr>
              <a:t>CSS</a:t>
            </a:r>
            <a:r>
              <a:rPr lang="pt-BR" i="0" dirty="0">
                <a:effectLst/>
                <a:latin typeface="Segoe UI" panose="020B0502040204020203" pitchFamily="34" charset="0"/>
              </a:rPr>
              <a:t>,</a:t>
            </a:r>
            <a:r>
              <a:rPr lang="pt-BR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define a cor do texto para um elemento HTML:</a:t>
            </a:r>
            <a:endParaRPr lang="pt-PT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5B5753-00EC-8EB9-C0A4-999D378DA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" y="308429"/>
            <a:ext cx="6561389" cy="58679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0A5700E-C7DC-4DE6-7D0A-B19A22461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824" y="2740728"/>
            <a:ext cx="7755841" cy="95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96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67F11FC-39AC-BAA0-F039-B8DCB30A8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" y="308429"/>
            <a:ext cx="6561389" cy="58679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7FD137D-0939-8AF0-33C1-D906BE4D2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55" y="1204463"/>
            <a:ext cx="8986263" cy="137290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E4F2CBD-693F-C155-460B-0FB738319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4737" y="3200380"/>
            <a:ext cx="7518801" cy="7371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4684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877680E-630D-442F-F903-15CC1DCC7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" y="308429"/>
            <a:ext cx="6561389" cy="58679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14BB1F7-5BA6-2B40-5153-9E7FF4BFB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30" y="1751160"/>
            <a:ext cx="9701677" cy="143990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DCB44D4-2637-181D-2C1D-01B1B6C8D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343" y="3608453"/>
            <a:ext cx="7442552" cy="8771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1310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06480-CD55-8F25-007F-929128FEA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B94C742-BC06-50DD-155D-6C9879B06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" y="308429"/>
            <a:ext cx="6561389" cy="58679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A58635F-E8C3-7D7A-CF8F-EC57A38DE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06" y="1560346"/>
            <a:ext cx="10691568" cy="149076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114C8B7-3F01-B627-CC77-099944246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0835" y="3716236"/>
            <a:ext cx="7830330" cy="95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861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4B56D-D2EA-5F20-DC73-0ED70EC30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0C71D6B-0481-0C81-8D1B-A496AC286708}"/>
              </a:ext>
            </a:extLst>
          </p:cNvPr>
          <p:cNvSpPr txBox="1"/>
          <p:nvPr/>
        </p:nvSpPr>
        <p:spPr>
          <a:xfrm>
            <a:off x="2974910" y="2995126"/>
            <a:ext cx="6242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DEMONSTRAÇÃO PRÁTICA – APLICAÇÃO DOS ESTILOS (PROPRIEDADES CSS) NO PROJETO</a:t>
            </a:r>
          </a:p>
        </p:txBody>
      </p:sp>
    </p:spTree>
    <p:extLst>
      <p:ext uri="{BB962C8B-B14F-4D97-AF65-F5344CB8AC3E}">
        <p14:creationId xmlns:p14="http://schemas.microsoft.com/office/powerpoint/2010/main" val="29528655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84CF-9888-99F5-5B3F-D3D38E511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BFD7C12-CE73-0AAA-9488-BB16DB489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59" y="174484"/>
            <a:ext cx="7083801" cy="650903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BEFB35E-BE6C-0147-5C30-B05B8E597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852" y="321060"/>
            <a:ext cx="4281863" cy="62158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216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6B4A5-17D0-6543-B268-5EAC6C163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95487D9-6865-005D-DA0C-A031B85D9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" y="308429"/>
            <a:ext cx="6561389" cy="586791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81D96DB5-72E7-D795-D425-7E515AD334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001" t="-1" r="24968" b="-997"/>
          <a:stretch>
            <a:fillRect/>
          </a:stretch>
        </p:blipFill>
        <p:spPr>
          <a:xfrm>
            <a:off x="4181493" y="1353500"/>
            <a:ext cx="3829014" cy="503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0006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0727" y="425059"/>
            <a:ext cx="9853479" cy="440819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Cascading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Style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latin typeface="Arial" panose="020B0604020202020204" pitchFamily="34" charset="0"/>
                <a:cs typeface="Arial" panose="020B0604020202020204" pitchFamily="34" charset="0"/>
              </a:rPr>
              <a:t>Sheets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- é a linguagem usada para estilizar e definir a apresentação visual de documentos HTML ou XML. Ela controla o layout, cores, fontes, espaçamento e responsividade, permitindo criar designs atraentes e organizar elementos em "caixas" (box model). O CSS separa o conteúdo (HTML) do design, facilitando a manutenção do site.</a:t>
            </a:r>
          </a:p>
          <a:p>
            <a:pPr marL="0" algn="just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Define cores, fontes e layouts.</a:t>
            </a:r>
          </a:p>
          <a:p>
            <a:pPr marL="0" algn="just">
              <a:lnSpc>
                <a:spcPct val="150000"/>
              </a:lnSpc>
            </a:pP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Dá vida ao HTML.</a:t>
            </a:r>
          </a:p>
        </p:txBody>
      </p:sp>
      <p:sp>
        <p:nvSpPr>
          <p:cNvPr id="4" name="AutoShape 2" descr="Domine o CSS: 10 Passos para Melhores Práticas de Estilo de Folha de Estilo  (CSS)&quot; | Thiago Soares | CSS | DIO">
            <a:extLst>
              <a:ext uri="{FF2B5EF4-FFF2-40B4-BE49-F238E27FC236}">
                <a16:creationId xmlns:a16="http://schemas.microsoft.com/office/drawing/2014/main" id="{333C2FD5-D82B-39AB-4427-9F966640B4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16874" y="3124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E41D440-6AC2-B196-6277-91A195EDF6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01" t="-1" r="24968" b="-997"/>
          <a:stretch>
            <a:fillRect/>
          </a:stretch>
        </p:blipFill>
        <p:spPr>
          <a:xfrm>
            <a:off x="257794" y="261819"/>
            <a:ext cx="1701635" cy="223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815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654</Words>
  <Application>Microsoft Office PowerPoint</Application>
  <PresentationFormat>Widescreen</PresentationFormat>
  <Paragraphs>79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8" baseType="lpstr">
      <vt:lpstr>Aptos</vt:lpstr>
      <vt:lpstr>Aptos Display</vt:lpstr>
      <vt:lpstr>Arial</vt:lpstr>
      <vt:lpstr>quote-cjk-patch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Estrutura Básica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Títulos e parágrafos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Juvenaldo Florentino Canja</dc:creator>
  <cp:lastModifiedBy>Juvenaldo Florentino Canja</cp:lastModifiedBy>
  <cp:revision>10</cp:revision>
  <dcterms:created xsi:type="dcterms:W3CDTF">2026-03-09T00:28:51Z</dcterms:created>
  <dcterms:modified xsi:type="dcterms:W3CDTF">2026-03-09T08:35:06Z</dcterms:modified>
</cp:coreProperties>
</file>